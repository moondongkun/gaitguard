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6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8148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47339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Kun Moon</a:t>
            </a:r>
            <a:endParaRPr lang="en-US" sz="1425" dirty="0"/>
          </a:p>
        </p:txBody>
      </p:sp>
      <p:sp>
        <p:nvSpPr>
          <p:cNvPr id="3" name="Text 1"/>
          <p:cNvSpPr/>
          <p:nvPr/>
        </p:nvSpPr>
        <p:spPr>
          <a:xfrm>
            <a:off x="2216348" y="504825"/>
            <a:ext cx="96797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7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2020-13236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3241477" y="504825"/>
            <a:ext cx="16549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7" dirty="0">
                <a:solidFill>
                  <a:srgbClr val="D9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464123" y="504825"/>
            <a:ext cx="385746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25" kern="0" spc="27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 of Liberal Studies · Business / CS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14747379" y="533400"/>
            <a:ext cx="57150" cy="57150"/>
          </a:xfrm>
          <a:prstGeom prst="ellipse">
            <a:avLst/>
          </a:prstGeom>
          <a:solidFill>
            <a:srgbClr val="0B3A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4975979" y="485775"/>
            <a:ext cx="20928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kern="0" spc="126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 PROJECT PROPOSAL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308605" y="419100"/>
            <a:ext cx="266700" cy="285750"/>
          </a:xfrm>
          <a:prstGeom prst="roundRect">
            <a:avLst>
              <a:gd name="adj" fmla="val 17857"/>
            </a:avLst>
          </a:prstGeom>
          <a:solidFill>
            <a:srgbClr val="0F1A23"/>
          </a:solidFill>
          <a:ln w="9525">
            <a:solidFill>
              <a:srgbClr val="0F1A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7345025" y="447675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i="1" kern="0" spc="126" dirty="0">
                <a:solidFill>
                  <a:srgbClr val="F6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2262188"/>
            <a:ext cx="16916400" cy="9525"/>
          </a:xfrm>
          <a:prstGeom prst="rect">
            <a:avLst/>
          </a:prstGeom>
          <a:solidFill>
            <a:srgbClr val="0F1A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85800" y="962025"/>
            <a:ext cx="266700" cy="19050"/>
          </a:xfrm>
          <a:prstGeom prst="rect">
            <a:avLst/>
          </a:prstGeom>
          <a:solidFill>
            <a:srgbClr val="0B3A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066800" y="895350"/>
            <a:ext cx="45002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89" dirty="0">
                <a:solidFill>
                  <a:srgbClr val="0B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SOLO PROJECT · ON-DEVICE SENSING · ANDROID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799" y="1143000"/>
            <a:ext cx="13283803" cy="484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50" b="1" kern="0" spc="-69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GaitGuard — Real-Time Gait &amp; Posture-Based Fatigue Monitor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690843" y="1479159"/>
            <a:ext cx="15558956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fully offline Android app that estimates physical fatigue, stride symmetry, and fall-risk from a phone's built-in IMU — using a pruned, INT8-quantized Temporal CNN running entirely on-device.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3845778" y="1823172"/>
            <a:ext cx="1065163" cy="276225"/>
          </a:xfrm>
          <a:prstGeom prst="roundRect">
            <a:avLst>
              <a:gd name="adj" fmla="val 50000"/>
            </a:avLst>
          </a:prstGeom>
          <a:ln w="9525">
            <a:solidFill>
              <a:srgbClr val="0F1A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3969603" y="1889847"/>
            <a:ext cx="89371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0F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GALAXY S22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14987141" y="1823172"/>
            <a:ext cx="1310283" cy="276225"/>
          </a:xfrm>
          <a:prstGeom prst="roundRect">
            <a:avLst>
              <a:gd name="adj" fmla="val 50000"/>
            </a:avLst>
          </a:prstGeom>
          <a:ln w="9525">
            <a:solidFill>
              <a:srgbClr val="0F1A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5110966" y="1889847"/>
            <a:ext cx="113883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0F1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TFLITE · INT8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16373624" y="1823172"/>
            <a:ext cx="1228576" cy="276225"/>
          </a:xfrm>
          <a:prstGeom prst="roundRect">
            <a:avLst>
              <a:gd name="adj" fmla="val 50000"/>
            </a:avLst>
          </a:prstGeom>
          <a:solidFill>
            <a:srgbClr val="0B3A2E"/>
          </a:solidFill>
          <a:ln w="9525">
            <a:solidFill>
              <a:srgbClr val="0B3A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6497449" y="1889847"/>
            <a:ext cx="10571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kern="0" spc="59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 OFFLINE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685800" y="2462213"/>
            <a:ext cx="8382000" cy="3431381"/>
          </a:xfrm>
          <a:prstGeom prst="roundRect">
            <a:avLst>
              <a:gd name="adj" fmla="val 1666"/>
            </a:avLst>
          </a:prstGeom>
          <a:solidFill>
            <a:srgbClr val="FBF9F4"/>
          </a:solidFill>
          <a:ln w="9525">
            <a:solidFill>
              <a:srgbClr val="D9D3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904875" y="2938463"/>
            <a:ext cx="7943850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904875" y="2652713"/>
            <a:ext cx="22517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kern="0" spc="30" dirty="0">
                <a:solidFill>
                  <a:srgbClr val="0B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6252" y="2643188"/>
            <a:ext cx="55582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-8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55011" y="2728913"/>
            <a:ext cx="216991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· SOLUTION · TARGET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904875" y="3071813"/>
            <a:ext cx="1314450" cy="812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b="1" kern="0" spc="11" dirty="0">
                <a:solidFill>
                  <a:srgbClr val="B84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76475" y="3062288"/>
            <a:ext cx="6769418" cy="822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088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fatigue degrades gait </a:t>
            </a:r>
            <a:r>
              <a:rPr lang="en-US" sz="1088" b="1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people consciously notice it </a:t>
            </a:r>
            <a:r>
              <a:rPr lang="en-US" sz="1088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cadence drifts, stride symmetry drops, trunk sway grows. Existing systems require force plates, lab treadmills, wearables, or cameras — all impractical for daily mobile use, especially for </a:t>
            </a:r>
            <a:r>
              <a:rPr lang="en-US" sz="1088" b="1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elderly living independently </a:t>
            </a:r>
            <a:r>
              <a:rPr lang="en-US" sz="1088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athletes risking overtraining, and rehab patients.</a:t>
            </a:r>
            <a:endParaRPr lang="en-US" sz="1088" dirty="0"/>
          </a:p>
        </p:txBody>
      </p:sp>
      <p:sp>
        <p:nvSpPr>
          <p:cNvPr id="28" name="Text 26"/>
          <p:cNvSpPr/>
          <p:nvPr/>
        </p:nvSpPr>
        <p:spPr>
          <a:xfrm>
            <a:off x="904875" y="3941564"/>
            <a:ext cx="1314450" cy="616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b="1" kern="0" spc="11" dirty="0">
                <a:solidFill>
                  <a:srgbClr val="0B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276475" y="3932039"/>
            <a:ext cx="6769418" cy="626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088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fully offline Android app using only the phone's built-in </a:t>
            </a:r>
            <a:r>
              <a:rPr lang="en-US" sz="1088" b="1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accelerometer + gyroscope </a:t>
            </a:r>
            <a:r>
              <a:rPr lang="en-US" sz="1088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carried in a pocket or belt clip. Continuous 4-second IMU windows at 50 Hz feed an on-device Temporal CNN — </a:t>
            </a:r>
            <a:r>
              <a:rPr lang="en-US" sz="1088" b="1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camera, microphone, cloud, </a:t>
            </a:r>
          </a:p>
          <a:p>
            <a:pPr marL="0" indent="0" algn="l">
              <a:lnSpc>
                <a:spcPct val="142000"/>
              </a:lnSpc>
              <a:buNone/>
            </a:pPr>
            <a:r>
              <a:rPr lang="en-US" sz="1088" b="1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internet </a:t>
            </a:r>
            <a:r>
              <a:rPr lang="en-US" sz="1088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required.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904875" y="4615309"/>
            <a:ext cx="1314450" cy="224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b="1" kern="0" spc="11" dirty="0">
                <a:solidFill>
                  <a:srgbClr val="C98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Device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76475" y="4605784"/>
            <a:ext cx="6769418" cy="2341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088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TFLite INT8 TCN with GPU delegate, solo project. Calibrates gravity over 5 s before walking begins.</a:t>
            </a:r>
            <a:endParaRPr lang="en-US" sz="1088" dirty="0"/>
          </a:p>
        </p:txBody>
      </p:sp>
      <p:sp>
        <p:nvSpPr>
          <p:cNvPr id="32" name="Shape 30"/>
          <p:cNvSpPr/>
          <p:nvPr/>
        </p:nvSpPr>
        <p:spPr>
          <a:xfrm>
            <a:off x="904875" y="5064919"/>
            <a:ext cx="2584400" cy="6477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2F7D5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019175" y="5150644"/>
            <a:ext cx="539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D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60675" y="5169694"/>
            <a:ext cx="114300" cy="114300"/>
          </a:xfrm>
          <a:prstGeom prst="ellipse">
            <a:avLst/>
          </a:prstGeom>
          <a:solidFill>
            <a:srgbClr val="2F7D5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1019175" y="5331619"/>
            <a:ext cx="2432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0 – 39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19175" y="5493544"/>
            <a:ext cx="2432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cadence, balanced gait</a:t>
            </a:r>
            <a:endParaRPr lang="en-US" sz="938" dirty="0"/>
          </a:p>
        </p:txBody>
      </p:sp>
      <p:sp>
        <p:nvSpPr>
          <p:cNvPr id="37" name="Shape 35"/>
          <p:cNvSpPr/>
          <p:nvPr/>
        </p:nvSpPr>
        <p:spPr>
          <a:xfrm>
            <a:off x="3584525" y="5064919"/>
            <a:ext cx="2584400" cy="6477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98A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3698825" y="5150644"/>
            <a:ext cx="9176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98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Fatigue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940326" y="5169694"/>
            <a:ext cx="114300" cy="114300"/>
          </a:xfrm>
          <a:prstGeom prst="ellipse">
            <a:avLst/>
          </a:prstGeom>
          <a:solidFill>
            <a:srgbClr val="C98A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3698825" y="5331619"/>
            <a:ext cx="2432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40 – 69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98825" y="5493544"/>
            <a:ext cx="24320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Vibration alert → rest advised</a:t>
            </a:r>
            <a:endParaRPr lang="en-US" sz="938" dirty="0"/>
          </a:p>
        </p:txBody>
      </p:sp>
      <p:sp>
        <p:nvSpPr>
          <p:cNvPr id="42" name="Shape 40"/>
          <p:cNvSpPr/>
          <p:nvPr/>
        </p:nvSpPr>
        <p:spPr>
          <a:xfrm>
            <a:off x="6264176" y="5064919"/>
            <a:ext cx="2584549" cy="6477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B8432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378476" y="5150644"/>
            <a:ext cx="10401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4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/ Fall Risk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620125" y="5169694"/>
            <a:ext cx="114300" cy="114300"/>
          </a:xfrm>
          <a:prstGeom prst="ellipse">
            <a:avLst/>
          </a:prstGeom>
          <a:solidFill>
            <a:srgbClr val="B843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6378476" y="5331619"/>
            <a:ext cx="243214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70 – 100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78476" y="5493544"/>
            <a:ext cx="243214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to caregiver via SmsManager</a:t>
            </a:r>
            <a:endParaRPr lang="en-US" sz="938" dirty="0"/>
          </a:p>
        </p:txBody>
      </p:sp>
      <p:sp>
        <p:nvSpPr>
          <p:cNvPr id="47" name="Shape 45"/>
          <p:cNvSpPr/>
          <p:nvPr/>
        </p:nvSpPr>
        <p:spPr>
          <a:xfrm>
            <a:off x="9220200" y="2462213"/>
            <a:ext cx="8382000" cy="3431381"/>
          </a:xfrm>
          <a:prstGeom prst="roundRect">
            <a:avLst>
              <a:gd name="adj" fmla="val 1666"/>
            </a:avLst>
          </a:prstGeom>
          <a:solidFill>
            <a:srgbClr val="FBF9F4"/>
          </a:solidFill>
          <a:ln w="9525">
            <a:solidFill>
              <a:srgbClr val="D9D3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9439275" y="2938463"/>
            <a:ext cx="7943850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9439275" y="2652713"/>
            <a:ext cx="3113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kern="0" spc="30" dirty="0">
                <a:solidFill>
                  <a:srgbClr val="0B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II.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826823" y="2643188"/>
            <a:ext cx="570909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-8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Pipeline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5522029" y="2728913"/>
            <a:ext cx="193729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SENSING → DSP + DNN → UI</a:t>
            </a:r>
            <a:endParaRPr lang="en-US" sz="825" dirty="0"/>
          </a:p>
        </p:txBody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9275" y="3214688"/>
            <a:ext cx="7943850" cy="1295102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9439275" y="4671715"/>
            <a:ext cx="1314450" cy="431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b="1" kern="0" spc="11" dirty="0">
                <a:solidFill>
                  <a:srgbClr val="0B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DSP · Stage 1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10810875" y="4662190"/>
            <a:ext cx="6769418" cy="441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088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Hz low-pass → adaptive step detection → 12 features: </a:t>
            </a:r>
            <a:r>
              <a:rPr lang="en-US" sz="1013" dirty="0">
                <a:solidFill>
                  <a:srgbClr val="3642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cadence · ISI-CV · symmetry · harmonic ratio · trunk tilt · FFT energy </a:t>
            </a:r>
            <a:r>
              <a:rPr lang="en-US" sz="1088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88" dirty="0"/>
          </a:p>
        </p:txBody>
      </p:sp>
      <p:sp>
        <p:nvSpPr>
          <p:cNvPr id="55" name="Text 52"/>
          <p:cNvSpPr/>
          <p:nvPr/>
        </p:nvSpPr>
        <p:spPr>
          <a:xfrm>
            <a:off x="9439275" y="5160466"/>
            <a:ext cx="1314450" cy="224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b="1" kern="0" spc="11" dirty="0">
                <a:solidFill>
                  <a:srgbClr val="0B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 · Stage 2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10810875" y="5150941"/>
            <a:ext cx="6769418" cy="2341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088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Dilated causal (1, 2, 4) + depthwise-separable + residual → 3 heads: </a:t>
            </a:r>
            <a:r>
              <a:rPr lang="en-US" sz="1088" b="1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fatigue</a:t>
            </a:r>
            <a:r>
              <a:rPr lang="en-US" sz="1088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088" b="1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fall-risk</a:t>
            </a:r>
            <a:r>
              <a:rPr lang="en-US" sz="1088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088" b="1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symmetry</a:t>
            </a:r>
            <a:r>
              <a:rPr lang="en-US" sz="1088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88" dirty="0"/>
          </a:p>
        </p:txBody>
      </p:sp>
      <p:sp>
        <p:nvSpPr>
          <p:cNvPr id="57" name="Text 54"/>
          <p:cNvSpPr/>
          <p:nvPr/>
        </p:nvSpPr>
        <p:spPr>
          <a:xfrm>
            <a:off x="9439275" y="5442198"/>
            <a:ext cx="1314450" cy="230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b="1" kern="0" spc="11" dirty="0">
                <a:solidFill>
                  <a:srgbClr val="0B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· Stage 3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10810875" y="5432673"/>
            <a:ext cx="6769418" cy="239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088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composite → live gauge, vibration alert (amber), offline </a:t>
            </a:r>
            <a:r>
              <a:rPr lang="en-US" sz="1013" dirty="0">
                <a:solidFill>
                  <a:srgbClr val="3642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SmsManager </a:t>
            </a:r>
            <a:r>
              <a:rPr lang="en-US" sz="1088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sustained risk.</a:t>
            </a:r>
            <a:endParaRPr lang="en-US" sz="1088" dirty="0"/>
          </a:p>
        </p:txBody>
      </p:sp>
      <p:sp>
        <p:nvSpPr>
          <p:cNvPr id="59" name="Shape 56"/>
          <p:cNvSpPr/>
          <p:nvPr/>
        </p:nvSpPr>
        <p:spPr>
          <a:xfrm>
            <a:off x="685800" y="6045994"/>
            <a:ext cx="8382000" cy="3431381"/>
          </a:xfrm>
          <a:prstGeom prst="roundRect">
            <a:avLst>
              <a:gd name="adj" fmla="val 1666"/>
            </a:avLst>
          </a:prstGeom>
          <a:solidFill>
            <a:srgbClr val="FBF9F4"/>
          </a:solidFill>
          <a:ln w="9525">
            <a:solidFill>
              <a:srgbClr val="D9D3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7"/>
          <p:cNvSpPr/>
          <p:nvPr/>
        </p:nvSpPr>
        <p:spPr>
          <a:xfrm>
            <a:off x="904875" y="6522244"/>
            <a:ext cx="7943850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Text 58"/>
          <p:cNvSpPr/>
          <p:nvPr/>
        </p:nvSpPr>
        <p:spPr>
          <a:xfrm>
            <a:off x="904875" y="6236494"/>
            <a:ext cx="3975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kern="0" spc="30" dirty="0">
                <a:solidFill>
                  <a:srgbClr val="0B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III.</a:t>
            </a:r>
            <a:endParaRPr lang="en-US" sz="1500" dirty="0"/>
          </a:p>
        </p:txBody>
      </p:sp>
      <p:sp>
        <p:nvSpPr>
          <p:cNvPr id="62" name="Text 59"/>
          <p:cNvSpPr/>
          <p:nvPr/>
        </p:nvSpPr>
        <p:spPr>
          <a:xfrm>
            <a:off x="1378595" y="6226969"/>
            <a:ext cx="617939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-8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Requirements &amp; Main Features</a:t>
            </a:r>
            <a:endParaRPr lang="en-US" sz="1500" dirty="0"/>
          </a:p>
        </p:txBody>
      </p:sp>
      <p:sp>
        <p:nvSpPr>
          <p:cNvPr id="63" name="Text 60"/>
          <p:cNvSpPr/>
          <p:nvPr/>
        </p:nvSpPr>
        <p:spPr>
          <a:xfrm>
            <a:off x="7530405" y="6312694"/>
            <a:ext cx="13945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· LIVE UI</a:t>
            </a:r>
            <a:endParaRPr lang="en-US" sz="825" dirty="0"/>
          </a:p>
        </p:txBody>
      </p:sp>
      <p:sp>
        <p:nvSpPr>
          <p:cNvPr id="64" name="Shape 61"/>
          <p:cNvSpPr/>
          <p:nvPr/>
        </p:nvSpPr>
        <p:spPr>
          <a:xfrm>
            <a:off x="1102816" y="6646069"/>
            <a:ext cx="1223218" cy="2650331"/>
          </a:xfrm>
          <a:prstGeom prst="roundRect">
            <a:avLst>
              <a:gd name="adj" fmla="val 17131"/>
            </a:avLst>
          </a:prstGeom>
          <a:solidFill>
            <a:srgbClr val="0F1A23"/>
          </a:solidFill>
          <a:ln/>
          <a:effectLst>
            <a:outerShdw blurRad="171450" dist="5715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5" name="Shape 62"/>
          <p:cNvSpPr/>
          <p:nvPr/>
        </p:nvSpPr>
        <p:spPr>
          <a:xfrm>
            <a:off x="1447651" y="6674644"/>
            <a:ext cx="533400" cy="133350"/>
          </a:xfrm>
          <a:prstGeom prst="rect">
            <a:avLst/>
          </a:prstGeom>
          <a:solidFill>
            <a:srgbClr val="0F1A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Text 63"/>
          <p:cNvSpPr/>
          <p:nvPr/>
        </p:nvSpPr>
        <p:spPr>
          <a:xfrm>
            <a:off x="1245691" y="6722269"/>
            <a:ext cx="25791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675" dirty="0"/>
          </a:p>
        </p:txBody>
      </p:sp>
      <p:pic>
        <p:nvPicPr>
          <p:cNvPr id="6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8360" y="6736556"/>
            <a:ext cx="133350" cy="76200"/>
          </a:xfrm>
          <a:prstGeom prst="rect">
            <a:avLst/>
          </a:prstGeom>
        </p:spPr>
      </p:pic>
      <p:pic>
        <p:nvPicPr>
          <p:cNvPr id="6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9810" y="6736556"/>
            <a:ext cx="133350" cy="76200"/>
          </a:xfrm>
          <a:prstGeom prst="rect">
            <a:avLst/>
          </a:prstGeom>
        </p:spPr>
      </p:pic>
      <p:sp>
        <p:nvSpPr>
          <p:cNvPr id="69" name="Shape 64"/>
          <p:cNvSpPr/>
          <p:nvPr/>
        </p:nvSpPr>
        <p:spPr>
          <a:xfrm>
            <a:off x="1150441" y="6855619"/>
            <a:ext cx="1127968" cy="2374106"/>
          </a:xfrm>
          <a:prstGeom prst="roundRect">
            <a:avLst>
              <a:gd name="adj" fmla="val 12667"/>
            </a:avLst>
          </a:prstGeom>
          <a:solidFill>
            <a:srgbClr val="F6F3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0" name="Text 65"/>
          <p:cNvSpPr/>
          <p:nvPr/>
        </p:nvSpPr>
        <p:spPr>
          <a:xfrm>
            <a:off x="1217116" y="6922294"/>
            <a:ext cx="632668" cy="163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b="1" kern="0" spc="-9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GaitGuard</a:t>
            </a:r>
            <a:endParaRPr lang="en-US" sz="900" dirty="0"/>
          </a:p>
        </p:txBody>
      </p:sp>
      <p:sp>
        <p:nvSpPr>
          <p:cNvPr id="71" name="Text 66"/>
          <p:cNvSpPr/>
          <p:nvPr/>
        </p:nvSpPr>
        <p:spPr>
          <a:xfrm>
            <a:off x="1217116" y="7057430"/>
            <a:ext cx="6326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563" kern="0" spc="22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Posture · Live scan</a:t>
            </a:r>
            <a:endParaRPr lang="en-US" sz="563" dirty="0"/>
          </a:p>
        </p:txBody>
      </p:sp>
      <p:sp>
        <p:nvSpPr>
          <p:cNvPr id="72" name="Shape 67"/>
          <p:cNvSpPr/>
          <p:nvPr/>
        </p:nvSpPr>
        <p:spPr>
          <a:xfrm>
            <a:off x="1830735" y="6999387"/>
            <a:ext cx="381000" cy="133350"/>
          </a:xfrm>
          <a:prstGeom prst="roundRect">
            <a:avLst>
              <a:gd name="adj" fmla="val 50000"/>
            </a:avLst>
          </a:prstGeom>
          <a:solidFill>
            <a:srgbClr val="2F7D50">
              <a:alpha val="16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3" name="Shape 68"/>
          <p:cNvSpPr/>
          <p:nvPr/>
        </p:nvSpPr>
        <p:spPr>
          <a:xfrm>
            <a:off x="1878360" y="7042249"/>
            <a:ext cx="47625" cy="47625"/>
          </a:xfrm>
          <a:prstGeom prst="ellipse">
            <a:avLst/>
          </a:prstGeom>
          <a:solidFill>
            <a:srgbClr val="2F7D50">
              <a:alpha val="91000"/>
            </a:srgbClr>
          </a:solidFill>
          <a:ln/>
          <a:effectLst>
            <a:outerShdw blurRad="101600" dist="50800" dir="16200000" algn="bl" rotWithShape="0">
              <a:srgbClr val="2F7D50">
                <a:alpha val="16315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4" name="Text 69"/>
          <p:cNvSpPr/>
          <p:nvPr/>
        </p:nvSpPr>
        <p:spPr>
          <a:xfrm>
            <a:off x="1964085" y="7018437"/>
            <a:ext cx="2762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63" b="1" kern="0" spc="56" dirty="0">
                <a:solidFill>
                  <a:srgbClr val="2F7D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563" dirty="0"/>
          </a:p>
        </p:txBody>
      </p:sp>
      <p:sp>
        <p:nvSpPr>
          <p:cNvPr id="75" name="Shape 70"/>
          <p:cNvSpPr/>
          <p:nvPr/>
        </p:nvSpPr>
        <p:spPr>
          <a:xfrm>
            <a:off x="1217116" y="7266980"/>
            <a:ext cx="994618" cy="1372195"/>
          </a:xfrm>
          <a:prstGeom prst="roundRect">
            <a:avLst>
              <a:gd name="adj" fmla="val 9577"/>
            </a:avLst>
          </a:prstGeom>
          <a:solidFill>
            <a:srgbClr val="0D162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17116" y="7266980"/>
            <a:ext cx="994618" cy="1372195"/>
          </a:xfrm>
          <a:prstGeom prst="rect">
            <a:avLst/>
          </a:prstGeom>
        </p:spPr>
      </p:pic>
      <p:sp>
        <p:nvSpPr>
          <p:cNvPr id="77" name="Shape 71"/>
          <p:cNvSpPr/>
          <p:nvPr/>
        </p:nvSpPr>
        <p:spPr>
          <a:xfrm>
            <a:off x="1709589" y="7266980"/>
            <a:ext cx="9525" cy="1372195"/>
          </a:xfrm>
          <a:prstGeom prst="rect">
            <a:avLst/>
          </a:prstGeom>
          <a:solidFill>
            <a:srgbClr val="78DCC8">
              <a:alpha val="55000"/>
            </a:srgbClr>
          </a:solidFill>
          <a:ln/>
          <a:effectLst>
            <a:outerShdw blurRad="38100" dist="50800" dir="16200000" algn="bl" rotWithShape="0">
              <a:srgbClr val="78DCC8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8" name="Shape 72"/>
          <p:cNvSpPr/>
          <p:nvPr/>
        </p:nvSpPr>
        <p:spPr>
          <a:xfrm>
            <a:off x="1217116" y="7948315"/>
            <a:ext cx="994618" cy="9525"/>
          </a:xfrm>
          <a:prstGeom prst="rect">
            <a:avLst/>
          </a:prstGeom>
          <a:solidFill>
            <a:srgbClr val="78DCC8">
              <a:alpha val="55000"/>
            </a:srgbClr>
          </a:solidFill>
          <a:ln/>
          <a:effectLst>
            <a:outerShdw blurRad="38100" dist="50800" dir="16200000" algn="bl" rotWithShape="0">
              <a:srgbClr val="78DCC8">
                <a:alpha val="5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9" name="Shape 73"/>
          <p:cNvSpPr/>
          <p:nvPr/>
        </p:nvSpPr>
        <p:spPr>
          <a:xfrm>
            <a:off x="1491555" y="7695902"/>
            <a:ext cx="47625" cy="47625"/>
          </a:xfrm>
          <a:prstGeom prst="ellipse">
            <a:avLst/>
          </a:prstGeom>
          <a:solidFill>
            <a:srgbClr val="6EE7C5"/>
          </a:solidFill>
          <a:ln/>
          <a:effectLst>
            <a:outerShdw blurRad="101600" dist="50800" dir="16200000" algn="bl" rotWithShape="0">
              <a:srgbClr val="6EE7C5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0" name="Shape 74"/>
          <p:cNvSpPr/>
          <p:nvPr/>
        </p:nvSpPr>
        <p:spPr>
          <a:xfrm>
            <a:off x="1889522" y="7695902"/>
            <a:ext cx="47625" cy="47625"/>
          </a:xfrm>
          <a:prstGeom prst="ellipse">
            <a:avLst/>
          </a:prstGeom>
          <a:solidFill>
            <a:srgbClr val="6EE7C5"/>
          </a:solidFill>
          <a:ln/>
          <a:effectLst>
            <a:outerShdw blurRad="101600" dist="50800" dir="16200000" algn="bl" rotWithShape="0">
              <a:srgbClr val="6EE7C5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1" name="Shape 75"/>
          <p:cNvSpPr/>
          <p:nvPr/>
        </p:nvSpPr>
        <p:spPr>
          <a:xfrm>
            <a:off x="1551236" y="8038951"/>
            <a:ext cx="47625" cy="47625"/>
          </a:xfrm>
          <a:prstGeom prst="ellipse">
            <a:avLst/>
          </a:prstGeom>
          <a:solidFill>
            <a:srgbClr val="6EE7C5"/>
          </a:solidFill>
          <a:ln/>
          <a:effectLst>
            <a:outerShdw blurRad="101600" dist="50800" dir="16200000" algn="bl" rotWithShape="0">
              <a:srgbClr val="6EE7C5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2" name="Shape 76"/>
          <p:cNvSpPr/>
          <p:nvPr/>
        </p:nvSpPr>
        <p:spPr>
          <a:xfrm>
            <a:off x="1829842" y="8038951"/>
            <a:ext cx="47625" cy="47625"/>
          </a:xfrm>
          <a:prstGeom prst="ellipse">
            <a:avLst/>
          </a:prstGeom>
          <a:solidFill>
            <a:srgbClr val="6EE7C5"/>
          </a:solidFill>
          <a:ln/>
          <a:effectLst>
            <a:outerShdw blurRad="101600" dist="50800" dir="16200000" algn="bl" rotWithShape="0">
              <a:srgbClr val="6EE7C5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3" name="Shape 77"/>
          <p:cNvSpPr/>
          <p:nvPr/>
        </p:nvSpPr>
        <p:spPr>
          <a:xfrm>
            <a:off x="1690539" y="7447211"/>
            <a:ext cx="47625" cy="133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101600" dist="50800" dir="16200000" algn="bl" rotWithShape="0">
              <a:srgbClr val="6EE7C5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4" name="Shape 78"/>
          <p:cNvSpPr/>
          <p:nvPr/>
        </p:nvSpPr>
        <p:spPr>
          <a:xfrm>
            <a:off x="1690539" y="7571036"/>
            <a:ext cx="47625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5" name="Shape 79"/>
          <p:cNvSpPr/>
          <p:nvPr/>
        </p:nvSpPr>
        <p:spPr>
          <a:xfrm>
            <a:off x="834702" y="7290495"/>
            <a:ext cx="483245" cy="271760"/>
          </a:xfrm>
          <a:prstGeom prst="roundRect">
            <a:avLst>
              <a:gd name="adj" fmla="val 17525"/>
            </a:avLst>
          </a:prstGeom>
          <a:solidFill>
            <a:srgbClr val="0F1A23">
              <a:alpha val="78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Text 80"/>
          <p:cNvSpPr/>
          <p:nvPr/>
        </p:nvSpPr>
        <p:spPr>
          <a:xfrm>
            <a:off x="891852" y="7328595"/>
            <a:ext cx="426095" cy="10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" kern="0" spc="36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NECK TILT</a:t>
            </a:r>
            <a:endParaRPr lang="en-US" sz="450" dirty="0"/>
          </a:p>
        </p:txBody>
      </p:sp>
      <p:sp>
        <p:nvSpPr>
          <p:cNvPr id="87" name="Text 81"/>
          <p:cNvSpPr/>
          <p:nvPr/>
        </p:nvSpPr>
        <p:spPr>
          <a:xfrm>
            <a:off x="891852" y="7403753"/>
            <a:ext cx="426095" cy="158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25" b="1" dirty="0">
                <a:solidFill>
                  <a:srgbClr val="F0C9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7.2°</a:t>
            </a:r>
            <a:endParaRPr lang="en-US" sz="825" dirty="0"/>
          </a:p>
        </p:txBody>
      </p:sp>
      <p:sp>
        <p:nvSpPr>
          <p:cNvPr id="88" name="Shape 82"/>
          <p:cNvSpPr/>
          <p:nvPr/>
        </p:nvSpPr>
        <p:spPr>
          <a:xfrm>
            <a:off x="2011709" y="7290495"/>
            <a:ext cx="536897" cy="271760"/>
          </a:xfrm>
          <a:prstGeom prst="roundRect">
            <a:avLst>
              <a:gd name="adj" fmla="val 17525"/>
            </a:avLst>
          </a:prstGeom>
          <a:solidFill>
            <a:srgbClr val="0F1A23">
              <a:alpha val="78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Text 83"/>
          <p:cNvSpPr/>
          <p:nvPr/>
        </p:nvSpPr>
        <p:spPr>
          <a:xfrm>
            <a:off x="1870993" y="7328595"/>
            <a:ext cx="620464" cy="10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450" kern="0" spc="36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SHOULDER LEVEL</a:t>
            </a:r>
            <a:endParaRPr lang="en-US" sz="450" dirty="0"/>
          </a:p>
        </p:txBody>
      </p:sp>
      <p:sp>
        <p:nvSpPr>
          <p:cNvPr id="90" name="Text 84"/>
          <p:cNvSpPr/>
          <p:nvPr/>
        </p:nvSpPr>
        <p:spPr>
          <a:xfrm>
            <a:off x="1870993" y="7403753"/>
            <a:ext cx="620464" cy="158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25" b="1" dirty="0">
                <a:solidFill>
                  <a:srgbClr val="6EE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0.0°</a:t>
            </a:r>
            <a:endParaRPr lang="en-US" sz="825" dirty="0"/>
          </a:p>
        </p:txBody>
      </p:sp>
      <p:sp>
        <p:nvSpPr>
          <p:cNvPr id="91" name="Shape 85"/>
          <p:cNvSpPr/>
          <p:nvPr/>
        </p:nvSpPr>
        <p:spPr>
          <a:xfrm>
            <a:off x="836712" y="8074372"/>
            <a:ext cx="488156" cy="271760"/>
          </a:xfrm>
          <a:prstGeom prst="roundRect">
            <a:avLst>
              <a:gd name="adj" fmla="val 17525"/>
            </a:avLst>
          </a:prstGeom>
          <a:solidFill>
            <a:srgbClr val="0F1A23">
              <a:alpha val="78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2" name="Text 86"/>
          <p:cNvSpPr/>
          <p:nvPr/>
        </p:nvSpPr>
        <p:spPr>
          <a:xfrm>
            <a:off x="893862" y="8112472"/>
            <a:ext cx="503783" cy="10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50" kern="0" spc="36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PELVIC TILT</a:t>
            </a:r>
            <a:endParaRPr lang="en-US" sz="450" dirty="0"/>
          </a:p>
        </p:txBody>
      </p:sp>
      <p:sp>
        <p:nvSpPr>
          <p:cNvPr id="93" name="Text 87"/>
          <p:cNvSpPr/>
          <p:nvPr/>
        </p:nvSpPr>
        <p:spPr>
          <a:xfrm>
            <a:off x="893862" y="8187630"/>
            <a:ext cx="503783" cy="158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25" b="1" dirty="0">
                <a:solidFill>
                  <a:srgbClr val="F38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+4.2°</a:t>
            </a:r>
            <a:endParaRPr lang="en-US" sz="825" dirty="0"/>
          </a:p>
        </p:txBody>
      </p:sp>
      <p:sp>
        <p:nvSpPr>
          <p:cNvPr id="94" name="Shape 88"/>
          <p:cNvSpPr/>
          <p:nvPr/>
        </p:nvSpPr>
        <p:spPr>
          <a:xfrm>
            <a:off x="2011710" y="8074372"/>
            <a:ext cx="559445" cy="271760"/>
          </a:xfrm>
          <a:prstGeom prst="roundRect">
            <a:avLst>
              <a:gd name="adj" fmla="val 17525"/>
            </a:avLst>
          </a:prstGeom>
          <a:solidFill>
            <a:srgbClr val="0F1A23">
              <a:alpha val="78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Text 89"/>
          <p:cNvSpPr/>
          <p:nvPr/>
        </p:nvSpPr>
        <p:spPr>
          <a:xfrm>
            <a:off x="2087910" y="8112472"/>
            <a:ext cx="426095" cy="10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450" kern="0" spc="36" dirty="0">
                <a:solidFill>
                  <a:srgbClr val="FFFFFF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ASYMMETRY</a:t>
            </a:r>
            <a:endParaRPr lang="en-US" sz="450" dirty="0"/>
          </a:p>
        </p:txBody>
      </p:sp>
      <p:sp>
        <p:nvSpPr>
          <p:cNvPr id="96" name="Text 90"/>
          <p:cNvSpPr/>
          <p:nvPr/>
        </p:nvSpPr>
        <p:spPr>
          <a:xfrm>
            <a:off x="2087910" y="8187630"/>
            <a:ext cx="426095" cy="158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25" b="1" dirty="0">
                <a:solidFill>
                  <a:srgbClr val="F0C9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825" dirty="0"/>
          </a:p>
        </p:txBody>
      </p:sp>
      <p:sp>
        <p:nvSpPr>
          <p:cNvPr id="97" name="Shape 91"/>
          <p:cNvSpPr/>
          <p:nvPr/>
        </p:nvSpPr>
        <p:spPr>
          <a:xfrm>
            <a:off x="1247031" y="8458200"/>
            <a:ext cx="950416" cy="171450"/>
          </a:xfrm>
          <a:prstGeom prst="roundRect">
            <a:avLst>
              <a:gd name="adj" fmla="val 50000"/>
            </a:avLst>
          </a:prstGeom>
          <a:solidFill>
            <a:srgbClr val="0F1A23">
              <a:alpha val="70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Text 92"/>
          <p:cNvSpPr/>
          <p:nvPr/>
        </p:nvSpPr>
        <p:spPr>
          <a:xfrm>
            <a:off x="1312962" y="8475762"/>
            <a:ext cx="855166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straight</a:t>
            </a:r>
            <a:endParaRPr lang="en-US" sz="600" dirty="0"/>
          </a:p>
        </p:txBody>
      </p:sp>
      <p:sp>
        <p:nvSpPr>
          <p:cNvPr id="99" name="Shape 93"/>
          <p:cNvSpPr/>
          <p:nvPr/>
        </p:nvSpPr>
        <p:spPr>
          <a:xfrm>
            <a:off x="1274266" y="8734425"/>
            <a:ext cx="209550" cy="209550"/>
          </a:xfrm>
          <a:prstGeom prst="ellipse">
            <a:avLst/>
          </a:prstGeom>
          <a:solidFill>
            <a:srgbClr val="0F1A23">
              <a:alpha val="6000"/>
            </a:srgbClr>
          </a:solidFill>
          <a:ln w="9525">
            <a:solidFill>
              <a:srgbClr val="D9D3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1891" y="8782050"/>
            <a:ext cx="114300" cy="114300"/>
          </a:xfrm>
          <a:prstGeom prst="rect">
            <a:avLst/>
          </a:prstGeom>
        </p:spPr>
      </p:pic>
      <p:sp>
        <p:nvSpPr>
          <p:cNvPr id="101" name="Shape 94"/>
          <p:cNvSpPr/>
          <p:nvPr/>
        </p:nvSpPr>
        <p:spPr>
          <a:xfrm>
            <a:off x="1571625" y="8696325"/>
            <a:ext cx="285750" cy="285750"/>
          </a:xfrm>
          <a:prstGeom prst="ellipse">
            <a:avLst/>
          </a:prstGeom>
          <a:solidFill>
            <a:srgbClr val="0F1A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2" name="Shape 95"/>
          <p:cNvSpPr/>
          <p:nvPr/>
        </p:nvSpPr>
        <p:spPr>
          <a:xfrm>
            <a:off x="1600200" y="8724900"/>
            <a:ext cx="228600" cy="228600"/>
          </a:xfrm>
          <a:prstGeom prst="ellipse">
            <a:avLst/>
          </a:prstGeom>
          <a:solidFill>
            <a:srgbClr val="F6F3EC"/>
          </a:solidFill>
          <a:ln w="9525">
            <a:solidFill>
              <a:srgbClr val="0F1A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Shape 96"/>
          <p:cNvSpPr/>
          <p:nvPr/>
        </p:nvSpPr>
        <p:spPr>
          <a:xfrm>
            <a:off x="1945035" y="8734425"/>
            <a:ext cx="209550" cy="209550"/>
          </a:xfrm>
          <a:prstGeom prst="ellipse">
            <a:avLst/>
          </a:prstGeom>
          <a:solidFill>
            <a:srgbClr val="0F1A23">
              <a:alpha val="6000"/>
            </a:srgbClr>
          </a:solidFill>
          <a:ln w="9525">
            <a:solidFill>
              <a:srgbClr val="D9D3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2660" y="8782050"/>
            <a:ext cx="114300" cy="114300"/>
          </a:xfrm>
          <a:prstGeom prst="rect">
            <a:avLst/>
          </a:prstGeom>
        </p:spPr>
      </p:pic>
      <p:sp>
        <p:nvSpPr>
          <p:cNvPr id="105" name="Shape 97"/>
          <p:cNvSpPr/>
          <p:nvPr/>
        </p:nvSpPr>
        <p:spPr>
          <a:xfrm>
            <a:off x="1217116" y="9039225"/>
            <a:ext cx="994618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6" name="Shape 98"/>
          <p:cNvSpPr/>
          <p:nvPr/>
        </p:nvSpPr>
        <p:spPr>
          <a:xfrm>
            <a:off x="1217116" y="9110663"/>
            <a:ext cx="28575" cy="28575"/>
          </a:xfrm>
          <a:prstGeom prst="ellipse">
            <a:avLst/>
          </a:prstGeom>
          <a:solidFill>
            <a:srgbClr val="6B7480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7" name="Text 99"/>
          <p:cNvSpPr/>
          <p:nvPr/>
        </p:nvSpPr>
        <p:spPr>
          <a:xfrm>
            <a:off x="1264741" y="9091613"/>
            <a:ext cx="31834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13" kern="0" spc="25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</a:t>
            </a:r>
            <a:endParaRPr lang="en-US" sz="413" dirty="0"/>
          </a:p>
        </p:txBody>
      </p:sp>
      <p:sp>
        <p:nvSpPr>
          <p:cNvPr id="108" name="Shape 100"/>
          <p:cNvSpPr/>
          <p:nvPr/>
        </p:nvSpPr>
        <p:spPr>
          <a:xfrm>
            <a:off x="1506885" y="9110663"/>
            <a:ext cx="28575" cy="28575"/>
          </a:xfrm>
          <a:prstGeom prst="ellipse">
            <a:avLst/>
          </a:prstGeom>
          <a:solidFill>
            <a:srgbClr val="6B7480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9" name="Text 101"/>
          <p:cNvSpPr/>
          <p:nvPr/>
        </p:nvSpPr>
        <p:spPr>
          <a:xfrm>
            <a:off x="1554510" y="9091613"/>
            <a:ext cx="21461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13" kern="0" spc="25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413" dirty="0"/>
          </a:p>
        </p:txBody>
      </p:sp>
      <p:sp>
        <p:nvSpPr>
          <p:cNvPr id="110" name="Shape 102"/>
          <p:cNvSpPr/>
          <p:nvPr/>
        </p:nvSpPr>
        <p:spPr>
          <a:xfrm>
            <a:off x="1692920" y="9110663"/>
            <a:ext cx="28575" cy="28575"/>
          </a:xfrm>
          <a:prstGeom prst="ellipse">
            <a:avLst/>
          </a:prstGeom>
          <a:solidFill>
            <a:srgbClr val="0B3A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1" name="Text 103"/>
          <p:cNvSpPr/>
          <p:nvPr/>
        </p:nvSpPr>
        <p:spPr>
          <a:xfrm>
            <a:off x="1740545" y="9086850"/>
            <a:ext cx="3183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13" b="1" kern="0" spc="25" dirty="0">
                <a:solidFill>
                  <a:srgbClr val="0B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POSTURE</a:t>
            </a:r>
            <a:endParaRPr lang="en-US" sz="413" dirty="0"/>
          </a:p>
        </p:txBody>
      </p:sp>
      <p:sp>
        <p:nvSpPr>
          <p:cNvPr id="112" name="Shape 104"/>
          <p:cNvSpPr/>
          <p:nvPr/>
        </p:nvSpPr>
        <p:spPr>
          <a:xfrm>
            <a:off x="1982688" y="9110663"/>
            <a:ext cx="28575" cy="28575"/>
          </a:xfrm>
          <a:prstGeom prst="ellipse">
            <a:avLst/>
          </a:prstGeom>
          <a:solidFill>
            <a:srgbClr val="6B7480">
              <a:alpha val="4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3" name="Text 105"/>
          <p:cNvSpPr/>
          <p:nvPr/>
        </p:nvSpPr>
        <p:spPr>
          <a:xfrm>
            <a:off x="2030313" y="9091613"/>
            <a:ext cx="31834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13" kern="0" spc="25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</a:t>
            </a:r>
            <a:endParaRPr lang="en-US" sz="413" dirty="0"/>
          </a:p>
        </p:txBody>
      </p:sp>
      <p:sp>
        <p:nvSpPr>
          <p:cNvPr id="114" name="Shape 106"/>
          <p:cNvSpPr/>
          <p:nvPr/>
        </p:nvSpPr>
        <p:spPr>
          <a:xfrm>
            <a:off x="2676525" y="6684169"/>
            <a:ext cx="30480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9D3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Text 107"/>
          <p:cNvSpPr/>
          <p:nvPr/>
        </p:nvSpPr>
        <p:spPr>
          <a:xfrm>
            <a:off x="2790825" y="6722269"/>
            <a:ext cx="63519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kern="0" spc="-45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15</a:t>
            </a:r>
            <a:endParaRPr lang="en-US" sz="2250" dirty="0"/>
          </a:p>
        </p:txBody>
      </p:sp>
      <p:sp>
        <p:nvSpPr>
          <p:cNvPr id="116" name="Text 108"/>
          <p:cNvSpPr/>
          <p:nvPr/>
        </p:nvSpPr>
        <p:spPr>
          <a:xfrm>
            <a:off x="3368873" y="6903244"/>
            <a:ext cx="2363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</a:t>
            </a:r>
            <a:endParaRPr lang="en-US" sz="1050" dirty="0"/>
          </a:p>
        </p:txBody>
      </p:sp>
      <p:sp>
        <p:nvSpPr>
          <p:cNvPr id="117" name="Text 109"/>
          <p:cNvSpPr/>
          <p:nvPr/>
        </p:nvSpPr>
        <p:spPr>
          <a:xfrm>
            <a:off x="2790825" y="7093744"/>
            <a:ext cx="290398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INFERENCE / WINDOW</a:t>
            </a:r>
            <a:endParaRPr lang="en-US" sz="825" dirty="0"/>
          </a:p>
        </p:txBody>
      </p:sp>
      <p:sp>
        <p:nvSpPr>
          <p:cNvPr id="118" name="Shape 110"/>
          <p:cNvSpPr/>
          <p:nvPr/>
        </p:nvSpPr>
        <p:spPr>
          <a:xfrm>
            <a:off x="5800725" y="6684169"/>
            <a:ext cx="30480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9D3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9" name="Text 111"/>
          <p:cNvSpPr/>
          <p:nvPr/>
        </p:nvSpPr>
        <p:spPr>
          <a:xfrm>
            <a:off x="5915025" y="6722269"/>
            <a:ext cx="46940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kern="0" spc="-45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</a:t>
            </a:r>
            <a:endParaRPr lang="en-US" sz="2250" dirty="0"/>
          </a:p>
        </p:txBody>
      </p:sp>
      <p:sp>
        <p:nvSpPr>
          <p:cNvPr id="120" name="Text 112"/>
          <p:cNvSpPr/>
          <p:nvPr/>
        </p:nvSpPr>
        <p:spPr>
          <a:xfrm>
            <a:off x="6327279" y="6903244"/>
            <a:ext cx="2363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</a:t>
            </a:r>
            <a:endParaRPr lang="en-US" sz="1050" dirty="0"/>
          </a:p>
        </p:txBody>
      </p:sp>
      <p:sp>
        <p:nvSpPr>
          <p:cNvPr id="121" name="Text 113"/>
          <p:cNvSpPr/>
          <p:nvPr/>
        </p:nvSpPr>
        <p:spPr>
          <a:xfrm>
            <a:off x="5915025" y="7093744"/>
            <a:ext cx="290398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INT8 MODEL SIZE</a:t>
            </a:r>
            <a:endParaRPr lang="en-US" sz="825" dirty="0"/>
          </a:p>
        </p:txBody>
      </p:sp>
      <p:sp>
        <p:nvSpPr>
          <p:cNvPr id="122" name="Shape 114"/>
          <p:cNvSpPr/>
          <p:nvPr/>
        </p:nvSpPr>
        <p:spPr>
          <a:xfrm>
            <a:off x="2676525" y="7369969"/>
            <a:ext cx="30480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9D3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3" name="Text 115"/>
          <p:cNvSpPr/>
          <p:nvPr/>
        </p:nvSpPr>
        <p:spPr>
          <a:xfrm>
            <a:off x="2790825" y="7408069"/>
            <a:ext cx="63519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kern="0" spc="-45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75</a:t>
            </a:r>
            <a:endParaRPr lang="en-US" sz="2250" dirty="0"/>
          </a:p>
        </p:txBody>
      </p:sp>
      <p:sp>
        <p:nvSpPr>
          <p:cNvPr id="124" name="Text 116"/>
          <p:cNvSpPr/>
          <p:nvPr/>
        </p:nvSpPr>
        <p:spPr>
          <a:xfrm>
            <a:off x="3368873" y="7589044"/>
            <a:ext cx="1562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050" dirty="0"/>
          </a:p>
        </p:txBody>
      </p:sp>
      <p:sp>
        <p:nvSpPr>
          <p:cNvPr id="125" name="Text 117"/>
          <p:cNvSpPr/>
          <p:nvPr/>
        </p:nvSpPr>
        <p:spPr>
          <a:xfrm>
            <a:off x="2790825" y="7779544"/>
            <a:ext cx="290398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 REDUCTION</a:t>
            </a:r>
            <a:endParaRPr lang="en-US" sz="825" dirty="0"/>
          </a:p>
        </p:txBody>
      </p:sp>
      <p:sp>
        <p:nvSpPr>
          <p:cNvPr id="126" name="Shape 118"/>
          <p:cNvSpPr/>
          <p:nvPr/>
        </p:nvSpPr>
        <p:spPr>
          <a:xfrm>
            <a:off x="5800725" y="7369969"/>
            <a:ext cx="30480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9D3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7" name="Text 119"/>
          <p:cNvSpPr/>
          <p:nvPr/>
        </p:nvSpPr>
        <p:spPr>
          <a:xfrm>
            <a:off x="5915025" y="7408069"/>
            <a:ext cx="46940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kern="0" spc="-45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</a:t>
            </a:r>
            <a:endParaRPr lang="en-US" sz="2250" dirty="0"/>
          </a:p>
        </p:txBody>
      </p:sp>
      <p:sp>
        <p:nvSpPr>
          <p:cNvPr id="128" name="Text 120"/>
          <p:cNvSpPr/>
          <p:nvPr/>
        </p:nvSpPr>
        <p:spPr>
          <a:xfrm>
            <a:off x="6327279" y="7589044"/>
            <a:ext cx="1562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050" dirty="0"/>
          </a:p>
        </p:txBody>
      </p:sp>
      <p:sp>
        <p:nvSpPr>
          <p:cNvPr id="129" name="Text 121"/>
          <p:cNvSpPr/>
          <p:nvPr/>
        </p:nvSpPr>
        <p:spPr>
          <a:xfrm>
            <a:off x="5915025" y="7779544"/>
            <a:ext cx="290398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DROP</a:t>
            </a:r>
            <a:endParaRPr lang="en-US" sz="825" dirty="0"/>
          </a:p>
        </p:txBody>
      </p:sp>
      <p:sp>
        <p:nvSpPr>
          <p:cNvPr id="130" name="Text 122"/>
          <p:cNvSpPr/>
          <p:nvPr/>
        </p:nvSpPr>
        <p:spPr>
          <a:xfrm>
            <a:off x="2676525" y="8084344"/>
            <a:ext cx="1314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kern="0" spc="10" dirty="0">
                <a:solidFill>
                  <a:srgbClr val="0B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975" dirty="0"/>
          </a:p>
        </p:txBody>
      </p:sp>
      <p:sp>
        <p:nvSpPr>
          <p:cNvPr id="131" name="Text 123"/>
          <p:cNvSpPr/>
          <p:nvPr/>
        </p:nvSpPr>
        <p:spPr>
          <a:xfrm>
            <a:off x="4048125" y="8074819"/>
            <a:ext cx="494461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offline </a:t>
            </a:r>
            <a:r>
              <a:rPr lang="en-US" sz="975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internet, no camera, no cloud. Works on aircraft mode with full 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975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preservation.</a:t>
            </a:r>
            <a:endParaRPr lang="en-US" sz="975" dirty="0"/>
          </a:p>
        </p:txBody>
      </p:sp>
      <p:sp>
        <p:nvSpPr>
          <p:cNvPr id="132" name="Text 124"/>
          <p:cNvSpPr/>
          <p:nvPr/>
        </p:nvSpPr>
        <p:spPr>
          <a:xfrm>
            <a:off x="2676525" y="8475762"/>
            <a:ext cx="1314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kern="0" spc="10" dirty="0">
                <a:solidFill>
                  <a:srgbClr val="0B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975" dirty="0"/>
          </a:p>
        </p:txBody>
      </p:sp>
      <p:sp>
        <p:nvSpPr>
          <p:cNvPr id="133" name="Text 125"/>
          <p:cNvSpPr/>
          <p:nvPr/>
        </p:nvSpPr>
        <p:spPr>
          <a:xfrm>
            <a:off x="4048125" y="8466237"/>
            <a:ext cx="494461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fatigue gauge · stride-symmetry bar · fall-risk badge · live waveform with step 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975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peaks · session timeline · caregiver SMS · CSV export via Room.</a:t>
            </a:r>
            <a:endParaRPr lang="en-US" sz="975" dirty="0"/>
          </a:p>
        </p:txBody>
      </p:sp>
      <p:sp>
        <p:nvSpPr>
          <p:cNvPr id="134" name="Text 126"/>
          <p:cNvSpPr/>
          <p:nvPr/>
        </p:nvSpPr>
        <p:spPr>
          <a:xfrm>
            <a:off x="2676525" y="8867180"/>
            <a:ext cx="1314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kern="0" spc="10" dirty="0">
                <a:solidFill>
                  <a:srgbClr val="0B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975" dirty="0"/>
          </a:p>
        </p:txBody>
      </p:sp>
      <p:sp>
        <p:nvSpPr>
          <p:cNvPr id="135" name="Text 127"/>
          <p:cNvSpPr/>
          <p:nvPr/>
        </p:nvSpPr>
        <p:spPr>
          <a:xfrm>
            <a:off x="4048125" y="8857655"/>
            <a:ext cx="494461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size · latency · fall-risk F1 drop · false-alert rate · end-to-end update latency on 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975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Galaxy S22.</a:t>
            </a:r>
            <a:endParaRPr lang="en-US" sz="975" dirty="0"/>
          </a:p>
        </p:txBody>
      </p:sp>
      <p:sp>
        <p:nvSpPr>
          <p:cNvPr id="136" name="Shape 128"/>
          <p:cNvSpPr/>
          <p:nvPr/>
        </p:nvSpPr>
        <p:spPr>
          <a:xfrm>
            <a:off x="9220200" y="6045994"/>
            <a:ext cx="8382000" cy="3431381"/>
          </a:xfrm>
          <a:prstGeom prst="roundRect">
            <a:avLst>
              <a:gd name="adj" fmla="val 1666"/>
            </a:avLst>
          </a:prstGeom>
          <a:solidFill>
            <a:srgbClr val="FBF9F4"/>
          </a:solidFill>
          <a:ln w="9525">
            <a:solidFill>
              <a:srgbClr val="D9D3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7" name="Shape 129"/>
          <p:cNvSpPr/>
          <p:nvPr/>
        </p:nvSpPr>
        <p:spPr>
          <a:xfrm>
            <a:off x="9439275" y="6522244"/>
            <a:ext cx="7943850" cy="9525"/>
          </a:xfrm>
          <a:prstGeom prst="rect">
            <a:avLst/>
          </a:prstGeom>
          <a:solidFill>
            <a:srgbClr val="E7E2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8" name="Text 130"/>
          <p:cNvSpPr/>
          <p:nvPr/>
        </p:nvSpPr>
        <p:spPr>
          <a:xfrm>
            <a:off x="9439275" y="6236494"/>
            <a:ext cx="34141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kern="0" spc="30" dirty="0">
                <a:solidFill>
                  <a:srgbClr val="0B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IV.</a:t>
            </a:r>
            <a:endParaRPr lang="en-US" sz="1500" dirty="0"/>
          </a:p>
        </p:txBody>
      </p:sp>
      <p:sp>
        <p:nvSpPr>
          <p:cNvPr id="139" name="Text 131"/>
          <p:cNvSpPr/>
          <p:nvPr/>
        </p:nvSpPr>
        <p:spPr>
          <a:xfrm>
            <a:off x="9856887" y="6226969"/>
            <a:ext cx="543852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-8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Strategy</a:t>
            </a:r>
            <a:endParaRPr lang="en-US" sz="1500" dirty="0"/>
          </a:p>
        </p:txBody>
      </p:sp>
      <p:sp>
        <p:nvSpPr>
          <p:cNvPr id="140" name="Text 132"/>
          <p:cNvSpPr/>
          <p:nvPr/>
        </p:nvSpPr>
        <p:spPr>
          <a:xfrm>
            <a:off x="15289411" y="6312694"/>
            <a:ext cx="216991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FP32 LSTM → PRUNED INT8 TCN</a:t>
            </a:r>
            <a:endParaRPr lang="en-US" sz="825" dirty="0"/>
          </a:p>
        </p:txBody>
      </p:sp>
      <p:sp>
        <p:nvSpPr>
          <p:cNvPr id="141" name="Shape 133"/>
          <p:cNvSpPr/>
          <p:nvPr/>
        </p:nvSpPr>
        <p:spPr>
          <a:xfrm>
            <a:off x="9439275" y="6684169"/>
            <a:ext cx="1757363" cy="623888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9525">
            <a:solidFill>
              <a:srgbClr val="D9D3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2" name="Text 134"/>
          <p:cNvSpPr/>
          <p:nvPr/>
        </p:nvSpPr>
        <p:spPr>
          <a:xfrm>
            <a:off x="9553575" y="6769894"/>
            <a:ext cx="160496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825" dirty="0"/>
          </a:p>
        </p:txBody>
      </p:sp>
      <p:sp>
        <p:nvSpPr>
          <p:cNvPr id="143" name="Text 135"/>
          <p:cNvSpPr/>
          <p:nvPr/>
        </p:nvSpPr>
        <p:spPr>
          <a:xfrm>
            <a:off x="9553575" y="6912769"/>
            <a:ext cx="160496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25" b="1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FP32 LSTM</a:t>
            </a:r>
            <a:endParaRPr lang="en-US" sz="1125" dirty="0"/>
          </a:p>
        </p:txBody>
      </p:sp>
      <p:sp>
        <p:nvSpPr>
          <p:cNvPr id="144" name="Text 136"/>
          <p:cNvSpPr/>
          <p:nvPr/>
        </p:nvSpPr>
        <p:spPr>
          <a:xfrm>
            <a:off x="9553575" y="7098506"/>
            <a:ext cx="160496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multi-output · ~4 MB</a:t>
            </a:r>
            <a:endParaRPr lang="en-US" sz="863" dirty="0"/>
          </a:p>
        </p:txBody>
      </p:sp>
      <p:pic>
        <p:nvPicPr>
          <p:cNvPr id="14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63313" y="6910388"/>
            <a:ext cx="171450" cy="171450"/>
          </a:xfrm>
          <a:prstGeom prst="rect">
            <a:avLst/>
          </a:prstGeom>
        </p:spPr>
      </p:pic>
      <p:sp>
        <p:nvSpPr>
          <p:cNvPr id="146" name="Shape 137"/>
          <p:cNvSpPr/>
          <p:nvPr/>
        </p:nvSpPr>
        <p:spPr>
          <a:xfrm>
            <a:off x="11501438" y="6684169"/>
            <a:ext cx="1757363" cy="623888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9525">
            <a:solidFill>
              <a:srgbClr val="D9D3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7" name="Text 138"/>
          <p:cNvSpPr/>
          <p:nvPr/>
        </p:nvSpPr>
        <p:spPr>
          <a:xfrm>
            <a:off x="11615738" y="6769894"/>
            <a:ext cx="160496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 · ARCHITECT</a:t>
            </a:r>
            <a:endParaRPr lang="en-US" sz="825" dirty="0"/>
          </a:p>
        </p:txBody>
      </p:sp>
      <p:sp>
        <p:nvSpPr>
          <p:cNvPr id="148" name="Text 139"/>
          <p:cNvSpPr/>
          <p:nvPr/>
        </p:nvSpPr>
        <p:spPr>
          <a:xfrm>
            <a:off x="11615738" y="6912769"/>
            <a:ext cx="160496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25" b="1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Dilated TCN</a:t>
            </a:r>
            <a:endParaRPr lang="en-US" sz="1125" dirty="0"/>
          </a:p>
        </p:txBody>
      </p:sp>
      <p:sp>
        <p:nvSpPr>
          <p:cNvPr id="149" name="Text 140"/>
          <p:cNvSpPr/>
          <p:nvPr/>
        </p:nvSpPr>
        <p:spPr>
          <a:xfrm>
            <a:off x="11615738" y="7098506"/>
            <a:ext cx="160496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SepConv1D · residual</a:t>
            </a:r>
            <a:endParaRPr lang="en-US" sz="863" dirty="0"/>
          </a:p>
        </p:txBody>
      </p:sp>
      <p:pic>
        <p:nvPicPr>
          <p:cNvPr id="15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25475" y="6910388"/>
            <a:ext cx="171450" cy="171450"/>
          </a:xfrm>
          <a:prstGeom prst="rect">
            <a:avLst/>
          </a:prstGeom>
        </p:spPr>
      </p:pic>
      <p:sp>
        <p:nvSpPr>
          <p:cNvPr id="151" name="Shape 141"/>
          <p:cNvSpPr/>
          <p:nvPr/>
        </p:nvSpPr>
        <p:spPr>
          <a:xfrm>
            <a:off x="13563600" y="6684169"/>
            <a:ext cx="1757363" cy="623888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9525">
            <a:solidFill>
              <a:srgbClr val="D9D3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2" name="Text 142"/>
          <p:cNvSpPr/>
          <p:nvPr/>
        </p:nvSpPr>
        <p:spPr>
          <a:xfrm>
            <a:off x="13677900" y="6769894"/>
            <a:ext cx="160496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 · PRUNE</a:t>
            </a:r>
            <a:endParaRPr lang="en-US" sz="825" dirty="0"/>
          </a:p>
        </p:txBody>
      </p:sp>
      <p:sp>
        <p:nvSpPr>
          <p:cNvPr id="153" name="Text 143"/>
          <p:cNvSpPr/>
          <p:nvPr/>
        </p:nvSpPr>
        <p:spPr>
          <a:xfrm>
            <a:off x="13677900" y="6912769"/>
            <a:ext cx="160496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25" b="1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sparsity</a:t>
            </a:r>
            <a:endParaRPr lang="en-US" sz="1125" dirty="0"/>
          </a:p>
        </p:txBody>
      </p:sp>
      <p:sp>
        <p:nvSpPr>
          <p:cNvPr id="154" name="Text 144"/>
          <p:cNvSpPr/>
          <p:nvPr/>
        </p:nvSpPr>
        <p:spPr>
          <a:xfrm>
            <a:off x="13677900" y="7098506"/>
            <a:ext cx="160496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tfmot · 25-epoch FT</a:t>
            </a:r>
            <a:endParaRPr lang="en-US" sz="863" dirty="0"/>
          </a:p>
        </p:txBody>
      </p:sp>
      <p:pic>
        <p:nvPicPr>
          <p:cNvPr id="15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87638" y="6910388"/>
            <a:ext cx="171450" cy="171450"/>
          </a:xfrm>
          <a:prstGeom prst="rect">
            <a:avLst/>
          </a:prstGeom>
        </p:spPr>
      </p:pic>
      <p:sp>
        <p:nvSpPr>
          <p:cNvPr id="156" name="Shape 145"/>
          <p:cNvSpPr/>
          <p:nvPr/>
        </p:nvSpPr>
        <p:spPr>
          <a:xfrm>
            <a:off x="15625763" y="6684169"/>
            <a:ext cx="1757363" cy="623888"/>
          </a:xfrm>
          <a:prstGeom prst="roundRect">
            <a:avLst>
              <a:gd name="adj" fmla="val 6107"/>
            </a:avLst>
          </a:prstGeom>
          <a:solidFill>
            <a:srgbClr val="0B3A2E"/>
          </a:solidFill>
          <a:ln w="9525">
            <a:solidFill>
              <a:srgbClr val="0B3A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7" name="Text 146"/>
          <p:cNvSpPr/>
          <p:nvPr/>
        </p:nvSpPr>
        <p:spPr>
          <a:xfrm>
            <a:off x="15740063" y="6769894"/>
            <a:ext cx="160496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825" kern="0" spc="11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 · QUANTIZE</a:t>
            </a:r>
            <a:endParaRPr lang="en-US" sz="825" dirty="0"/>
          </a:p>
        </p:txBody>
      </p:sp>
      <p:sp>
        <p:nvSpPr>
          <p:cNvPr id="158" name="Text 147"/>
          <p:cNvSpPr/>
          <p:nvPr/>
        </p:nvSpPr>
        <p:spPr>
          <a:xfrm>
            <a:off x="15740063" y="6912769"/>
            <a:ext cx="160496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TFLite</a:t>
            </a:r>
            <a:endParaRPr lang="en-US" sz="1125" dirty="0"/>
          </a:p>
        </p:txBody>
      </p:sp>
      <p:sp>
        <p:nvSpPr>
          <p:cNvPr id="159" name="Text 148"/>
          <p:cNvSpPr/>
          <p:nvPr/>
        </p:nvSpPr>
        <p:spPr>
          <a:xfrm>
            <a:off x="15740063" y="7098506"/>
            <a:ext cx="160496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FFFFFF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calib · &lt;1 MB</a:t>
            </a:r>
            <a:endParaRPr lang="en-US" sz="863" dirty="0"/>
          </a:p>
        </p:txBody>
      </p:sp>
      <p:sp>
        <p:nvSpPr>
          <p:cNvPr id="160" name="Text 149"/>
          <p:cNvSpPr/>
          <p:nvPr/>
        </p:nvSpPr>
        <p:spPr>
          <a:xfrm>
            <a:off x="9439275" y="7469981"/>
            <a:ext cx="1314450" cy="224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b="1" kern="0" spc="11" dirty="0">
                <a:solidFill>
                  <a:srgbClr val="0B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</a:t>
            </a:r>
            <a:endParaRPr lang="en-US" sz="1050" dirty="0"/>
          </a:p>
        </p:txBody>
      </p:sp>
      <p:sp>
        <p:nvSpPr>
          <p:cNvPr id="161" name="Text 150"/>
          <p:cNvSpPr/>
          <p:nvPr/>
        </p:nvSpPr>
        <p:spPr>
          <a:xfrm>
            <a:off x="10810875" y="7460456"/>
            <a:ext cx="6769418" cy="2341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088" b="1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WISDM </a:t>
            </a:r>
            <a:r>
              <a:rPr lang="en-US" sz="1088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088" b="1" dirty="0">
                <a:solidFill>
                  <a:srgbClr val="0F1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UCI-HAR </a:t>
            </a:r>
            <a:r>
              <a:rPr lang="en-US" sz="1088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datasets · self-collected walking samples for terrain &amp; fall-risk behavior.</a:t>
            </a:r>
            <a:endParaRPr lang="en-US" sz="1088" dirty="0"/>
          </a:p>
        </p:txBody>
      </p:sp>
      <p:sp>
        <p:nvSpPr>
          <p:cNvPr id="162" name="Text 151"/>
          <p:cNvSpPr/>
          <p:nvPr/>
        </p:nvSpPr>
        <p:spPr>
          <a:xfrm>
            <a:off x="9439275" y="7751713"/>
            <a:ext cx="1314450" cy="420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b="1" kern="0" spc="11" dirty="0">
                <a:solidFill>
                  <a:srgbClr val="0B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Model</a:t>
            </a:r>
            <a:endParaRPr lang="en-US" sz="1050" dirty="0"/>
          </a:p>
        </p:txBody>
      </p:sp>
      <p:sp>
        <p:nvSpPr>
          <p:cNvPr id="163" name="Text 152"/>
          <p:cNvSpPr/>
          <p:nvPr/>
        </p:nvSpPr>
        <p:spPr>
          <a:xfrm>
            <a:off x="10810875" y="7742188"/>
            <a:ext cx="6769418" cy="430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088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Multi-output FP32 LSTM trained on combined dataset — head: fatigue · fall-risk · symmetry. Establishes </a:t>
            </a:r>
          </a:p>
          <a:p>
            <a:pPr marL="0" indent="0" algn="l">
              <a:lnSpc>
                <a:spcPct val="142000"/>
              </a:lnSpc>
              <a:buNone/>
            </a:pPr>
            <a:r>
              <a:rPr lang="en-US" sz="1088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upper-bound accuracy reference.</a:t>
            </a:r>
            <a:endParaRPr lang="en-US" sz="1088" dirty="0"/>
          </a:p>
        </p:txBody>
      </p:sp>
      <p:sp>
        <p:nvSpPr>
          <p:cNvPr id="164" name="Text 153"/>
          <p:cNvSpPr/>
          <p:nvPr/>
        </p:nvSpPr>
        <p:spPr>
          <a:xfrm>
            <a:off x="9439275" y="8229451"/>
            <a:ext cx="1314450" cy="420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b="1" kern="0" spc="11" dirty="0">
                <a:solidFill>
                  <a:srgbClr val="0B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Model</a:t>
            </a:r>
            <a:endParaRPr lang="en-US" sz="1050" dirty="0"/>
          </a:p>
        </p:txBody>
      </p:sp>
      <p:sp>
        <p:nvSpPr>
          <p:cNvPr id="165" name="Text 154"/>
          <p:cNvSpPr/>
          <p:nvPr/>
        </p:nvSpPr>
        <p:spPr>
          <a:xfrm>
            <a:off x="10810875" y="8219926"/>
            <a:ext cx="6769418" cy="430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088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3-block dilated TCN (dilations 1, 2, 4) → 85% magnitude pruning with PolynomialDecay → post-training </a:t>
            </a:r>
          </a:p>
          <a:p>
            <a:pPr marL="0" indent="0" algn="l">
              <a:lnSpc>
                <a:spcPct val="142000"/>
              </a:lnSpc>
              <a:buNone/>
            </a:pPr>
            <a:r>
              <a:rPr lang="en-US" sz="1088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quantization with 500 calibration windows.</a:t>
            </a:r>
            <a:endParaRPr lang="en-US" sz="1088" dirty="0"/>
          </a:p>
        </p:txBody>
      </p:sp>
      <p:sp>
        <p:nvSpPr>
          <p:cNvPr id="166" name="Text 155"/>
          <p:cNvSpPr/>
          <p:nvPr/>
        </p:nvSpPr>
        <p:spPr>
          <a:xfrm>
            <a:off x="9439275" y="8707189"/>
            <a:ext cx="1314450" cy="426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b="1" kern="0" spc="11" dirty="0">
                <a:solidFill>
                  <a:srgbClr val="0B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Outcome</a:t>
            </a:r>
            <a:endParaRPr lang="en-US" sz="1050" dirty="0"/>
          </a:p>
        </p:txBody>
      </p:sp>
      <p:sp>
        <p:nvSpPr>
          <p:cNvPr id="167" name="Text 156"/>
          <p:cNvSpPr/>
          <p:nvPr/>
        </p:nvSpPr>
        <p:spPr>
          <a:xfrm>
            <a:off x="10810875" y="8697664"/>
            <a:ext cx="6769418" cy="435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013" dirty="0">
                <a:solidFill>
                  <a:srgbClr val="3642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 −75% · latency &lt;15 ms · F1 drop &lt;2% </a:t>
            </a:r>
            <a:r>
              <a:rPr lang="en-US" sz="1088" dirty="0">
                <a:solidFill>
                  <a:srgbClr val="3642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measured directly on-device against the FP32 baseline.</a:t>
            </a:r>
            <a:endParaRPr lang="en-US" sz="1088" dirty="0"/>
          </a:p>
        </p:txBody>
      </p:sp>
      <p:sp>
        <p:nvSpPr>
          <p:cNvPr id="168" name="Shape 157"/>
          <p:cNvSpPr/>
          <p:nvPr/>
        </p:nvSpPr>
        <p:spPr>
          <a:xfrm>
            <a:off x="685800" y="9667875"/>
            <a:ext cx="16916400" cy="9525"/>
          </a:xfrm>
          <a:prstGeom prst="rect">
            <a:avLst/>
          </a:prstGeom>
          <a:solidFill>
            <a:srgbClr val="D9D3C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9" name="Text 158"/>
          <p:cNvSpPr/>
          <p:nvPr/>
        </p:nvSpPr>
        <p:spPr>
          <a:xfrm>
            <a:off x="685800" y="9772650"/>
            <a:ext cx="376318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kern="0" spc="72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 COMPUTING &amp; ITS APPLICATIONS · 4190.406B</a:t>
            </a:r>
            <a:endParaRPr lang="en-US" sz="900" dirty="0"/>
          </a:p>
        </p:txBody>
      </p:sp>
      <p:sp>
        <p:nvSpPr>
          <p:cNvPr id="170" name="Text 159"/>
          <p:cNvSpPr/>
          <p:nvPr/>
        </p:nvSpPr>
        <p:spPr>
          <a:xfrm>
            <a:off x="16161693" y="9772650"/>
            <a:ext cx="151670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dongkun1115@snu.ac.kr</a:t>
            </a:r>
            <a:endParaRPr lang="en-US" sz="900" dirty="0"/>
          </a:p>
        </p:txBody>
      </p:sp>
      <p:pic>
        <p:nvPicPr>
          <p:cNvPr id="171" name="Picture 2" descr="Best Posture Correction App for Back Pain Relief">
            <a:extLst>
              <a:ext uri="{FF2B5EF4-FFF2-40B4-BE49-F238E27FC236}">
                <a16:creationId xmlns:a16="http://schemas.microsoft.com/office/drawing/2014/main" id="{7250945F-9417-7F78-2C11-15BCD8D6D8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/>
          <a:srcRect l="60202" t="24244" r="17277" b="32885"/>
          <a:stretch>
            <a:fillRect/>
          </a:stretch>
        </p:blipFill>
        <p:spPr bwMode="auto">
          <a:xfrm>
            <a:off x="17024887" y="394966"/>
            <a:ext cx="266700" cy="338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622</Words>
  <Application>Microsoft Office PowerPoint</Application>
  <PresentationFormat>Custom</PresentationFormat>
  <Paragraphs>109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Courier New</vt:lpstr>
      <vt:lpstr>Georgia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동건 문</cp:lastModifiedBy>
  <cp:revision>9</cp:revision>
  <dcterms:created xsi:type="dcterms:W3CDTF">2026-05-11T13:49:47Z</dcterms:created>
  <dcterms:modified xsi:type="dcterms:W3CDTF">2026-05-11T13:55:58Z</dcterms:modified>
</cp:coreProperties>
</file>