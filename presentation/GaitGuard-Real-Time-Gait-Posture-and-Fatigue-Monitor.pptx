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00503000000020004" pitchFamily="2" charset="0"/>
      <p:regular r:id="rId13"/>
      <p:italic r:id="rId14"/>
      <p:boldItalic r:id="rId15"/>
    </p:embeddedFont>
    <p:embeddedFont>
      <p:font typeface="Inter Bold" panose="020B0600000101010101" charset="0"/>
      <p:regular r:id="rId16"/>
    </p:embeddedFont>
    <p:embeddedFont>
      <p:font typeface="Inter Light" panose="02000503000000020004" pitchFamily="2" charset="0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209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13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FCFD514-D1BE-BA64-9BA1-1ED62E5EF767}"/>
              </a:ext>
            </a:extLst>
          </p:cNvPr>
          <p:cNvSpPr>
            <a:spLocks noGrp="1"/>
          </p:cNvSpPr>
          <p:nvPr userDrawn="1"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png"/><Relationship Id="rId9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2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699BDA-3D6C-C9BB-38F7-E4E103514713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GaitGuard: Real-Time Gait, Posture &amp; Fatigue Monitor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Dongkun Moon (2020-13236) · SNU Mobile Computing and Its Applications (Spring 2026) · Prof. Youngki Lee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786796A-66ED-5477-0364-0FF8BDF31523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2306"/>
            <a:ext cx="3784402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 &amp; Usage Scenario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1104826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1395487"/>
            <a:ext cx="221441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fatigue and poor posture accumulate silently in daily life — often undetected until injury occurs. Existing monitoring solutions require expensive dedicated wearables or constant internet connectivity.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6119" y="2567657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6119" y="2858319"/>
            <a:ext cx="2214414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GaitGuard leverages the phone's built-in IMU sensors and camera to monitor gait patterns and posture in real time — fully on-device, no internet, no wearable required.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009230" y="1104826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Users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94943" y="1408286"/>
            <a:ext cx="2228701" cy="9215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86857" y="1543050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🏃</a:t>
            </a: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Athletes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186857" y="1838474"/>
            <a:ext cx="190202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fatigue and asymmetry during training sessions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4943" y="2432224"/>
            <a:ext cx="2228701" cy="10998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86857" y="2566988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🧓</a:t>
            </a: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Elderly Users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186857" y="2862411"/>
            <a:ext cx="1902023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 risk detection and continuous gait health monitoring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94943" y="3634457"/>
            <a:ext cx="2228701" cy="9215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186857" y="3769221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💼</a:t>
            </a: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Office Workers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3186857" y="4064645"/>
            <a:ext cx="1902023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posture alerts for chronic spinal issue prevention</a:t>
            </a:r>
            <a:endParaRPr lang="en-US" sz="900" dirty="0"/>
          </a:p>
        </p:txBody>
      </p:sp>
      <p:sp>
        <p:nvSpPr>
          <p:cNvPr id="21" name="kicker-2-marker">
            <a:extLst>
              <a:ext uri="{FF2B5EF4-FFF2-40B4-BE49-F238E27FC236}">
                <a16:creationId xmlns:a16="http://schemas.microsoft.com/office/drawing/2014/main" id="{61EE62D1-A4D9-0BF6-201D-DC48FD96A4B1}"/>
              </a:ext>
            </a:extLst>
          </p:cNvPr>
          <p:cNvSpPr>
            <a:spLocks noGrp="1"/>
          </p:cNvSpPr>
          <p:nvPr/>
        </p:nvSpPr>
        <p:spPr>
          <a:xfrm>
            <a:off x="496119" y="383977"/>
            <a:ext cx="266700" cy="57150"/>
          </a:xfrm>
          <a:prstGeom prst="rect">
            <a:avLst/>
          </a:prstGeom>
          <a:solidFill>
            <a:srgbClr val="123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kicker-2-label">
            <a:extLst>
              <a:ext uri="{FF2B5EF4-FFF2-40B4-BE49-F238E27FC236}">
                <a16:creationId xmlns:a16="http://schemas.microsoft.com/office/drawing/2014/main" id="{4A7A8957-3442-2BB1-7704-B75AFFE8F9B7}"/>
              </a:ext>
            </a:extLst>
          </p:cNvPr>
          <p:cNvSpPr>
            <a:spLocks noGrp="1"/>
          </p:cNvSpPr>
          <p:nvPr/>
        </p:nvSpPr>
        <p:spPr>
          <a:xfrm>
            <a:off x="877119" y="307777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3B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2A"/>
                </a:solidFill>
                <a:latin typeface="Aptos"/>
                <a:ea typeface="Aptos"/>
                <a:cs typeface="Aptos"/>
              </a:rPr>
              <a:t>01 |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2E8741D-CE05-F01C-4944-FF841937DDC0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Text 0"/>
          <p:cNvSpPr/>
          <p:nvPr/>
        </p:nvSpPr>
        <p:spPr>
          <a:xfrm>
            <a:off x="496119" y="718021"/>
            <a:ext cx="808702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Idea: Two Simultaneous Sensing Modes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4452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GaitGuard runs two independent pipelines in parallel on a Samsung Galaxy S22 — no cloud, no wearable, fully offline.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30809"/>
            <a:ext cx="8151763" cy="1832744"/>
          </a:xfrm>
          <a:prstGeom prst="roundRect">
            <a:avLst>
              <a:gd name="adj" fmla="val 324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0881" y="1835572"/>
            <a:ext cx="4071119" cy="1823219"/>
          </a:xfrm>
          <a:prstGeom prst="roundRect">
            <a:avLst>
              <a:gd name="adj" fmla="val 326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2640" y="1977330"/>
            <a:ext cx="24605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 A — IMU Gait Tracking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2283842"/>
            <a:ext cx="3787601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Accelerometer + gyroscope at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Hz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Outputs: composite fatigue score, fall risk level, stride symmetry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in pocket, belt clip, or shirt pocket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835572"/>
            <a:ext cx="4071119" cy="1823219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72000" y="1835572"/>
            <a:ext cx="19050" cy="1823219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713759" y="1977330"/>
            <a:ext cx="30858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 B — Camera Posture 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13759" y="2283842"/>
            <a:ext cx="3787601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Kit Pose Detection at </a:t>
            </a: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fps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33 BlazePose landmarks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Outputs: shoulder level, kyphosis angle, pelvic tilt, asymmetry index, axial alignment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 skeleton overlay on live camera feed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823022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038079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56816" y="400020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modes run fully on-device — no internet connection required at any point.</a:t>
            </a:r>
            <a:endParaRPr lang="en-US" sz="1100" dirty="0"/>
          </a:p>
        </p:txBody>
      </p:sp>
      <p:sp>
        <p:nvSpPr>
          <p:cNvPr id="18" name="kicker-3-marker">
            <a:extLst>
              <a:ext uri="{FF2B5EF4-FFF2-40B4-BE49-F238E27FC236}">
                <a16:creationId xmlns:a16="http://schemas.microsoft.com/office/drawing/2014/main" id="{5A4C7C45-53DB-87AF-95C2-440127B92007}"/>
              </a:ext>
            </a:extLst>
          </p:cNvPr>
          <p:cNvSpPr>
            <a:spLocks noGrp="1"/>
          </p:cNvSpPr>
          <p:nvPr/>
        </p:nvSpPr>
        <p:spPr>
          <a:xfrm>
            <a:off x="496119" y="627868"/>
            <a:ext cx="266700" cy="57150"/>
          </a:xfrm>
          <a:prstGeom prst="rect">
            <a:avLst/>
          </a:prstGeom>
          <a:solidFill>
            <a:srgbClr val="123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kicker-3-label">
            <a:extLst>
              <a:ext uri="{FF2B5EF4-FFF2-40B4-BE49-F238E27FC236}">
                <a16:creationId xmlns:a16="http://schemas.microsoft.com/office/drawing/2014/main" id="{9DC90777-E193-9A8F-0E5A-A0267E29CA1B}"/>
              </a:ext>
            </a:extLst>
          </p:cNvPr>
          <p:cNvSpPr>
            <a:spLocks noGrp="1"/>
          </p:cNvSpPr>
          <p:nvPr/>
        </p:nvSpPr>
        <p:spPr>
          <a:xfrm>
            <a:off x="877119" y="551668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3B2A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123B2A"/>
                </a:solidFill>
                <a:latin typeface="Aptos"/>
                <a:ea typeface="Aptos"/>
                <a:cs typeface="Aptos"/>
              </a:rPr>
              <a:t>02 | CONCEPT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B6C91A7-D3F6-DCF1-691D-AD6B84059466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Text 0"/>
          <p:cNvSpPr/>
          <p:nvPr/>
        </p:nvSpPr>
        <p:spPr>
          <a:xfrm>
            <a:off x="496119" y="462037"/>
            <a:ext cx="6091982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 Functionality: Gait Monitoring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934045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336328"/>
            <a:ext cx="8151763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400-slot ring buffer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stores [AccX, AccY, AccZ, GyroX, GyroY, GyroZ] at 50 Hz. Twelve hand-crafted features are extracted: cadence, ISI CV%, harmonic ratio, trunk tilt, arm swing, dominant frequency, band energy, symmetry score, and stance/swing ratio.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2158454"/>
            <a:ext cx="397386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Composite Fatigue Score (0–100, every 2s)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6119" y="2628007"/>
            <a:ext cx="1340793" cy="168325"/>
          </a:xfrm>
          <a:prstGeom prst="roundRect">
            <a:avLst>
              <a:gd name="adj" fmla="val 336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96119" y="2628007"/>
            <a:ext cx="737369" cy="168325"/>
          </a:xfrm>
          <a:prstGeom prst="roundRect">
            <a:avLst>
              <a:gd name="adj" fmla="val 3360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937891" y="2628007"/>
            <a:ext cx="380256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6119" y="2959522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TCN Output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73982" y="2628007"/>
            <a:ext cx="1330747" cy="168325"/>
          </a:xfrm>
          <a:prstGeom prst="roundRect">
            <a:avLst>
              <a:gd name="adj" fmla="val 336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73982" y="2628007"/>
            <a:ext cx="266105" cy="168325"/>
          </a:xfrm>
          <a:prstGeom prst="roundRect">
            <a:avLst>
              <a:gd name="adj" fmla="val 3360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005709" y="2628007"/>
            <a:ext cx="390376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3982" y="2959522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ISI CV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1921" y="2628007"/>
            <a:ext cx="1373014" cy="168325"/>
          </a:xfrm>
          <a:prstGeom prst="roundRect">
            <a:avLst>
              <a:gd name="adj" fmla="val 336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651921" y="2628007"/>
            <a:ext cx="205904" cy="168325"/>
          </a:xfrm>
          <a:prstGeom prst="roundRect">
            <a:avLst>
              <a:gd name="adj" fmla="val 3360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125914" y="2628007"/>
            <a:ext cx="348109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51921" y="2959522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Harmonic Ratio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9859" y="2628007"/>
            <a:ext cx="1364233" cy="168325"/>
          </a:xfrm>
          <a:prstGeom prst="roundRect">
            <a:avLst>
              <a:gd name="adj" fmla="val 336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729859" y="2628007"/>
            <a:ext cx="136401" cy="168325"/>
          </a:xfrm>
          <a:prstGeom prst="roundRect">
            <a:avLst>
              <a:gd name="adj" fmla="val 4147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195072" y="2628007"/>
            <a:ext cx="356890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9859" y="2959522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Trunk Tilt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119" y="3361804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 Features</a:t>
            </a:r>
            <a:endParaRPr lang="en-US" sz="13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764087"/>
            <a:ext cx="336649" cy="33664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92684" y="376408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Terrain Classifier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92684" y="4051176"/>
            <a:ext cx="2114029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ground, stairs (up/down), incline, uneven terrain</a:t>
            </a:r>
            <a:endParaRPr lang="en-US" sz="10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6629" y="3764087"/>
            <a:ext cx="336649" cy="33664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763194" y="376408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Fall Detection FSM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3763194" y="4051176"/>
            <a:ext cx="2114104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Freefall (&lt;0.5g for 200ms) + impact (&gt;3g within 500ms) detection</a:t>
            </a:r>
            <a:endParaRPr lang="en-US" sz="10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7213" y="3764087"/>
            <a:ext cx="336649" cy="336649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533778" y="376408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Emergency SMS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533778" y="4051176"/>
            <a:ext cx="2114104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Auto-sends caregiver GPS coordinates on confirmed fall</a:t>
            </a:r>
            <a:endParaRPr lang="en-US" sz="1050" dirty="0"/>
          </a:p>
        </p:txBody>
      </p:sp>
      <p:sp>
        <p:nvSpPr>
          <p:cNvPr id="35" name="kicker-4-marker">
            <a:extLst>
              <a:ext uri="{FF2B5EF4-FFF2-40B4-BE49-F238E27FC236}">
                <a16:creationId xmlns:a16="http://schemas.microsoft.com/office/drawing/2014/main" id="{712F42F1-7679-7400-5F89-D66B2EE9B6AA}"/>
              </a:ext>
            </a:extLst>
          </p:cNvPr>
          <p:cNvSpPr>
            <a:spLocks noGrp="1"/>
          </p:cNvSpPr>
          <p:nvPr/>
        </p:nvSpPr>
        <p:spPr>
          <a:xfrm>
            <a:off x="496119" y="386122"/>
            <a:ext cx="266700" cy="57150"/>
          </a:xfrm>
          <a:prstGeom prst="rect">
            <a:avLst/>
          </a:prstGeom>
          <a:solidFill>
            <a:srgbClr val="123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kicker-4-label">
            <a:extLst>
              <a:ext uri="{FF2B5EF4-FFF2-40B4-BE49-F238E27FC236}">
                <a16:creationId xmlns:a16="http://schemas.microsoft.com/office/drawing/2014/main" id="{EB2A9544-85FF-AE4E-F107-4EEB588A3C92}"/>
              </a:ext>
            </a:extLst>
          </p:cNvPr>
          <p:cNvSpPr>
            <a:spLocks noGrp="1"/>
          </p:cNvSpPr>
          <p:nvPr/>
        </p:nvSpPr>
        <p:spPr>
          <a:xfrm>
            <a:off x="877119" y="309922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3B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2A"/>
                </a:solidFill>
                <a:latin typeface="Aptos"/>
                <a:ea typeface="Aptos"/>
                <a:cs typeface="Aptos"/>
              </a:rPr>
              <a:t>03 | GAIT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1D7EA5A-D9B4-C594-9C07-AF7A5D8CE8C6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Text 0"/>
          <p:cNvSpPr/>
          <p:nvPr/>
        </p:nvSpPr>
        <p:spPr>
          <a:xfrm>
            <a:off x="488379" y="413072"/>
            <a:ext cx="4712494" cy="30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 Functionality: Posture Analysis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88379" y="886495"/>
            <a:ext cx="16782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Camera Pipeline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695899" y="886495"/>
            <a:ext cx="1921669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Live Metrics Per Frame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95899" y="1114797"/>
            <a:ext cx="19533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695899" y="1266453"/>
            <a:ext cx="3964484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695899" y="1343844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Shoulder Level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95899" y="1563737"/>
            <a:ext cx="396448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Left/right shoulder height difference in degrees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695899" y="1836241"/>
            <a:ext cx="19533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95899" y="1987897"/>
            <a:ext cx="3964484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95899" y="2065288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Kyphosis Angle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95899" y="2285181"/>
            <a:ext cx="396448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Spinal curvature proxy via hip-shoulder-knee angle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95899" y="2557686"/>
            <a:ext cx="19533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95899" y="2709342"/>
            <a:ext cx="3964484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695899" y="2786732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Pelvic Tilt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95899" y="3006626"/>
            <a:ext cx="396448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 asymmetry in degrees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95899" y="3279130"/>
            <a:ext cx="19533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95899" y="3430786"/>
            <a:ext cx="3964484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95899" y="3508177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Asymmetry Index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95899" y="3728070"/>
            <a:ext cx="396448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shoulder + pelvic deviation score (%)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95899" y="4000574"/>
            <a:ext cx="19533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95899" y="4152230"/>
            <a:ext cx="3964484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695899" y="4229621"/>
            <a:ext cx="1221060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Axial Alignment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95899" y="4449514"/>
            <a:ext cx="3964484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Nose / shoulder / hip / ankle vertical deviation check</a:t>
            </a:r>
            <a:endParaRPr lang="en-US" sz="7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091EE32-EC68-DF66-843B-47395DA97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9072" y="1058937"/>
            <a:ext cx="4029030" cy="3812894"/>
          </a:xfrm>
          <a:prstGeom prst="rect">
            <a:avLst/>
          </a:prstGeom>
        </p:spPr>
      </p:pic>
      <p:sp>
        <p:nvSpPr>
          <p:cNvPr id="33" name="kicker-5-marker">
            <a:extLst>
              <a:ext uri="{FF2B5EF4-FFF2-40B4-BE49-F238E27FC236}">
                <a16:creationId xmlns:a16="http://schemas.microsoft.com/office/drawing/2014/main" id="{9A52B55B-CA47-CC2D-3D27-9C790C0875A5}"/>
              </a:ext>
            </a:extLst>
          </p:cNvPr>
          <p:cNvSpPr>
            <a:spLocks noGrp="1"/>
          </p:cNvSpPr>
          <p:nvPr/>
        </p:nvSpPr>
        <p:spPr>
          <a:xfrm>
            <a:off x="488379" y="328452"/>
            <a:ext cx="266700" cy="57150"/>
          </a:xfrm>
          <a:prstGeom prst="rect">
            <a:avLst/>
          </a:prstGeom>
          <a:solidFill>
            <a:srgbClr val="123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kicker-5-label">
            <a:extLst>
              <a:ext uri="{FF2B5EF4-FFF2-40B4-BE49-F238E27FC236}">
                <a16:creationId xmlns:a16="http://schemas.microsoft.com/office/drawing/2014/main" id="{3FB428C6-F756-9251-DA3D-74B0AD0C709C}"/>
              </a:ext>
            </a:extLst>
          </p:cNvPr>
          <p:cNvSpPr>
            <a:spLocks noGrp="1"/>
          </p:cNvSpPr>
          <p:nvPr/>
        </p:nvSpPr>
        <p:spPr>
          <a:xfrm>
            <a:off x="869379" y="252252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3B2A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123B2A"/>
                </a:solidFill>
                <a:latin typeface="Aptos"/>
                <a:ea typeface="Aptos"/>
                <a:cs typeface="Aptos"/>
              </a:rPr>
              <a:t>04 | POSTURE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0548E7C-301F-B743-0B09-5D023533C7CB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Text 0"/>
          <p:cNvSpPr/>
          <p:nvPr/>
        </p:nvSpPr>
        <p:spPr>
          <a:xfrm>
            <a:off x="496119" y="517401"/>
            <a:ext cx="44454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 </a:t>
            </a:r>
            <a:r>
              <a:rPr lang="en-US" sz="2800" b="1" kern="0" spc="-84" dirty="0">
                <a:solidFill>
                  <a:srgbClr val="1C2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— five-tab experience</a:t>
            </a:r>
            <a:endParaRPr lang="en-US" sz="2750" dirty="0"/>
          </a:p>
        </p:txBody>
      </p:sp>
      <p:sp>
        <p:nvSpPr>
          <p:cNvPr id="33" name="kicker-6-marker">
            <a:extLst>
              <a:ext uri="{FF2B5EF4-FFF2-40B4-BE49-F238E27FC236}">
                <a16:creationId xmlns:a16="http://schemas.microsoft.com/office/drawing/2014/main" id="{F2BCD7C2-F2F8-B964-CF50-96179B25560E}"/>
              </a:ext>
            </a:extLst>
          </p:cNvPr>
          <p:cNvSpPr>
            <a:spLocks noGrp="1"/>
          </p:cNvSpPr>
          <p:nvPr/>
        </p:nvSpPr>
        <p:spPr>
          <a:xfrm>
            <a:off x="496119" y="454641"/>
            <a:ext cx="266700" cy="57150"/>
          </a:xfrm>
          <a:prstGeom prst="rect">
            <a:avLst/>
          </a:prstGeom>
          <a:solidFill>
            <a:srgbClr val="123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kicker-6-label">
            <a:extLst>
              <a:ext uri="{FF2B5EF4-FFF2-40B4-BE49-F238E27FC236}">
                <a16:creationId xmlns:a16="http://schemas.microsoft.com/office/drawing/2014/main" id="{C853D026-B93F-75E5-1661-0F5961406B2A}"/>
              </a:ext>
            </a:extLst>
          </p:cNvPr>
          <p:cNvSpPr>
            <a:spLocks noGrp="1"/>
          </p:cNvSpPr>
          <p:nvPr/>
        </p:nvSpPr>
        <p:spPr>
          <a:xfrm>
            <a:off x="877119" y="378441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3B2A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123B2A"/>
                </a:solidFill>
                <a:latin typeface="Aptos"/>
                <a:ea typeface="Aptos"/>
                <a:cs typeface="Aptos"/>
              </a:rPr>
              <a:t>05 | PRODUCT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9E15DAB-C19A-813F-9ABC-FCD4537E9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00" y="1077292"/>
            <a:ext cx="8317681" cy="2919947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B52E3E78-A196-795F-FEF1-6D667F910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25" y="1153492"/>
            <a:ext cx="1250808" cy="131657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AA3208A-30C0-6E74-A9A5-3C976EF01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03" y="1153492"/>
            <a:ext cx="1182734" cy="243117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66D3DE34-F68B-6B4F-0CA8-5DDC19372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949" y="1146261"/>
            <a:ext cx="1250808" cy="131657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1B476C8-4FE2-5EB4-D511-47BF1E9130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6145" y="1154081"/>
            <a:ext cx="1182162" cy="243000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DE25A6D5-29A9-1B11-3E9D-ED10813D3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315" y="1146260"/>
            <a:ext cx="1250808" cy="1316579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F66CF15F-9C17-E28F-D77B-55535109C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998" y="1153491"/>
            <a:ext cx="1250808" cy="1316579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E980193F-4F2E-ABDE-557A-120DEBFF8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805" y="1146259"/>
            <a:ext cx="1250808" cy="131657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FF43B76B-79C9-BCAD-C7D9-5D359CD5FF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2233" y="1153492"/>
            <a:ext cx="1182162" cy="24300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4CB72F77-48D0-47A0-9546-418DA7A603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321" y="1153492"/>
            <a:ext cx="1182162" cy="24300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079E569-02B5-387F-0867-BF50020124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409" y="1154670"/>
            <a:ext cx="1182162" cy="2430000"/>
          </a:xfrm>
          <a:prstGeom prst="rect">
            <a:avLst/>
          </a:prstGeom>
        </p:spPr>
      </p:pic>
      <p:sp>
        <p:nvSpPr>
          <p:cNvPr id="92" name="Text 24">
            <a:extLst>
              <a:ext uri="{FF2B5EF4-FFF2-40B4-BE49-F238E27FC236}">
                <a16:creationId xmlns:a16="http://schemas.microsoft.com/office/drawing/2014/main" id="{F04975A7-DF93-F5A7-334E-CED50388137A}"/>
              </a:ext>
            </a:extLst>
          </p:cNvPr>
          <p:cNvSpPr/>
          <p:nvPr/>
        </p:nvSpPr>
        <p:spPr>
          <a:xfrm>
            <a:off x="241151" y="3897358"/>
            <a:ext cx="19825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dashboard · fatigue ring</a:t>
            </a:r>
            <a:endParaRPr lang="en-US" sz="600" dirty="0"/>
          </a:p>
        </p:txBody>
      </p:sp>
      <p:sp>
        <p:nvSpPr>
          <p:cNvPr id="93" name="Text 39">
            <a:extLst>
              <a:ext uri="{FF2B5EF4-FFF2-40B4-BE49-F238E27FC236}">
                <a16:creationId xmlns:a16="http://schemas.microsoft.com/office/drawing/2014/main" id="{9A91219E-24A9-4047-237C-CA9C834D7279}"/>
              </a:ext>
            </a:extLst>
          </p:cNvPr>
          <p:cNvSpPr/>
          <p:nvPr/>
        </p:nvSpPr>
        <p:spPr>
          <a:xfrm>
            <a:off x="2128093" y="3890127"/>
            <a:ext cx="16884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waveform · fatigue gauge</a:t>
            </a:r>
            <a:endParaRPr lang="en-US" sz="6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91B2253-EBC6-DE85-F979-5F34F23D0438}"/>
              </a:ext>
            </a:extLst>
          </p:cNvPr>
          <p:cNvSpPr>
            <a:spLocks noGrp="1"/>
          </p:cNvSpPr>
          <p:nvPr/>
        </p:nvSpPr>
        <p:spPr>
          <a:xfrm>
            <a:off x="4280889" y="3725251"/>
            <a:ext cx="723901" cy="47244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4" name="Text 56">
            <a:extLst>
              <a:ext uri="{FF2B5EF4-FFF2-40B4-BE49-F238E27FC236}">
                <a16:creationId xmlns:a16="http://schemas.microsoft.com/office/drawing/2014/main" id="{55CBD363-1577-19AA-AD28-EA025A74057F}"/>
              </a:ext>
            </a:extLst>
          </p:cNvPr>
          <p:cNvSpPr/>
          <p:nvPr/>
        </p:nvSpPr>
        <p:spPr>
          <a:xfrm>
            <a:off x="3969047" y="3914118"/>
            <a:ext cx="13705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· AR overlay</a:t>
            </a:r>
            <a:endParaRPr lang="en-US" sz="60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F9D51AC-0D9A-C8C8-E0F8-6554F4C8EA3A}"/>
              </a:ext>
            </a:extLst>
          </p:cNvPr>
          <p:cNvSpPr>
            <a:spLocks noGrp="1"/>
          </p:cNvSpPr>
          <p:nvPr/>
        </p:nvSpPr>
        <p:spPr>
          <a:xfrm>
            <a:off x="3747491" y="3794921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23B2A"/>
                </a:solidFill>
                <a:latin typeface="Aptos"/>
                <a:ea typeface="Aptos"/>
                <a:cs typeface="Aptos"/>
              </a:defRPr>
            </a:pPr>
            <a:r>
              <a:rPr lang="en-GB" sz="900" b="1" dirty="0">
                <a:solidFill>
                  <a:srgbClr val="123B2A"/>
                </a:solidFill>
                <a:latin typeface="Aptos"/>
                <a:ea typeface="Aptos"/>
                <a:cs typeface="Aptos"/>
              </a:rPr>
              <a:t>Assessment</a:t>
            </a:r>
            <a:endParaRPr sz="900" b="1" dirty="0">
              <a:solidFill>
                <a:srgbClr val="123B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8" name="Text 75">
            <a:extLst>
              <a:ext uri="{FF2B5EF4-FFF2-40B4-BE49-F238E27FC236}">
                <a16:creationId xmlns:a16="http://schemas.microsoft.com/office/drawing/2014/main" id="{CB125085-5BA0-EA43-1759-A8179439A8B1}"/>
              </a:ext>
            </a:extLst>
          </p:cNvPr>
          <p:cNvSpPr/>
          <p:nvPr/>
        </p:nvSpPr>
        <p:spPr>
          <a:xfrm>
            <a:off x="5815075" y="3924522"/>
            <a:ext cx="12279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charts</a:t>
            </a:r>
            <a:endParaRPr lang="en-US" sz="600" dirty="0"/>
          </a:p>
        </p:txBody>
      </p:sp>
      <p:sp>
        <p:nvSpPr>
          <p:cNvPr id="99" name="Text 102">
            <a:extLst>
              <a:ext uri="{FF2B5EF4-FFF2-40B4-BE49-F238E27FC236}">
                <a16:creationId xmlns:a16="http://schemas.microsoft.com/office/drawing/2014/main" id="{A58DB21C-0A36-31DC-7049-7F7B0CDD02E2}"/>
              </a:ext>
            </a:extLst>
          </p:cNvPr>
          <p:cNvSpPr/>
          <p:nvPr/>
        </p:nvSpPr>
        <p:spPr>
          <a:xfrm>
            <a:off x="7534261" y="3924521"/>
            <a:ext cx="12674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6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optimization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36DD21E-F71C-0135-D556-B5335A35905F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Text 0"/>
          <p:cNvSpPr/>
          <p:nvPr/>
        </p:nvSpPr>
        <p:spPr>
          <a:xfrm>
            <a:off x="488379" y="405780"/>
            <a:ext cx="8164488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Architecture: Temporal Convolutional Network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04" y="1478756"/>
            <a:ext cx="4426297" cy="19087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6749" y="3025512"/>
            <a:ext cx="1004177" cy="125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Output Heads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176749" y="2583674"/>
            <a:ext cx="1004177" cy="12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Pool &amp; Concat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176749" y="2146299"/>
            <a:ext cx="1004177" cy="12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TCN Blocks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76749" y="1704461"/>
            <a:ext cx="1004177" cy="12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989886" y="1024458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Details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89886" y="1309018"/>
            <a:ext cx="2670423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A: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Raw IMU window [200 × 6] at 50 Hz (4 seconds)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B: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12 Z-score normalized hand-crafted features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TCN blocks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dilation rates 1, 2, 4</a:t>
            </a:r>
            <a:endParaRPr lang="en-US" sz="9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avg pooling → concat with Input B → Dense(8)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89886" y="2732187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 Heads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886" y="3029173"/>
            <a:ext cx="2670423" cy="800249"/>
          </a:xfrm>
          <a:prstGeom prst="roundRect">
            <a:avLst>
              <a:gd name="adj" fmla="val 622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502" y="3202186"/>
            <a:ext cx="148233" cy="118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75350" y="3157984"/>
            <a:ext cx="2166342" cy="522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Training: WISDM v1.1 + UCI-HAR · Proxy labeling · 80/20 split · 50 epochs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88379" y="4052664"/>
            <a:ext cx="2656284" cy="684981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621283" y="4185568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Fatigue Score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21283" y="4430464"/>
            <a:ext cx="239047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[0, 1] continuous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243858" y="4052664"/>
            <a:ext cx="2656284" cy="684981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3376761" y="4185568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Fall Risk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376761" y="4430464"/>
            <a:ext cx="239047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/ Medium / High (softmax)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99336" y="4052664"/>
            <a:ext cx="2656284" cy="684981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6132240" y="4185568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Symmetry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132240" y="4430464"/>
            <a:ext cx="2390477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[0, 1] continuous</a:t>
            </a:r>
            <a:endParaRPr lang="en-US" sz="900" dirty="0"/>
          </a:p>
        </p:txBody>
      </p:sp>
      <p:sp>
        <p:nvSpPr>
          <p:cNvPr id="24" name="kicker-7-marker">
            <a:extLst>
              <a:ext uri="{FF2B5EF4-FFF2-40B4-BE49-F238E27FC236}">
                <a16:creationId xmlns:a16="http://schemas.microsoft.com/office/drawing/2014/main" id="{F9601F49-5B2A-CC80-3A86-4207EAEB0561}"/>
              </a:ext>
            </a:extLst>
          </p:cNvPr>
          <p:cNvSpPr>
            <a:spLocks noGrp="1"/>
          </p:cNvSpPr>
          <p:nvPr/>
        </p:nvSpPr>
        <p:spPr>
          <a:xfrm>
            <a:off x="488379" y="336550"/>
            <a:ext cx="266700" cy="57150"/>
          </a:xfrm>
          <a:prstGeom prst="rect">
            <a:avLst/>
          </a:prstGeom>
          <a:solidFill>
            <a:srgbClr val="123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kicker-7-label">
            <a:extLst>
              <a:ext uri="{FF2B5EF4-FFF2-40B4-BE49-F238E27FC236}">
                <a16:creationId xmlns:a16="http://schemas.microsoft.com/office/drawing/2014/main" id="{BFA82934-C1A0-E2CD-FC8B-8EDFE9CE3A91}"/>
              </a:ext>
            </a:extLst>
          </p:cNvPr>
          <p:cNvSpPr>
            <a:spLocks noGrp="1"/>
          </p:cNvSpPr>
          <p:nvPr/>
        </p:nvSpPr>
        <p:spPr>
          <a:xfrm>
            <a:off x="869379" y="260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3B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2A"/>
                </a:solidFill>
                <a:latin typeface="Aptos"/>
                <a:ea typeface="Aptos"/>
                <a:cs typeface="Aptos"/>
              </a:rPr>
              <a:t>06 | MACHINE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5A9E0C5-F04C-D50A-88F8-C8267A718938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Text 0"/>
          <p:cNvSpPr/>
          <p:nvPr/>
        </p:nvSpPr>
        <p:spPr>
          <a:xfrm>
            <a:off x="496119" y="434876"/>
            <a:ext cx="472819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Optimization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20601"/>
            <a:ext cx="211335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Optimization Pipeline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449065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1651546"/>
            <a:ext cx="3920282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96119" y="1743894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Pruning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119" y="2057995"/>
            <a:ext cx="3920282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 sparsity via polynomial schedule (50%→85%), 25 fine-tuning epochs, then strip wrappers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2656284"/>
            <a:ext cx="25516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6119" y="2858765"/>
            <a:ext cx="3920282" cy="14288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96119" y="2951113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INT8 Quantization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119" y="3265215"/>
            <a:ext cx="3920282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Dynamic-range INT8 weights, float32 activations for TFLite 2.16.1 on Android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6119" y="3877866"/>
            <a:ext cx="3920282" cy="701576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64" y="4068514"/>
            <a:ext cx="159469" cy="12754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0679" y="4024536"/>
            <a:ext cx="3378175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Outcome:</a:t>
            </a: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83% smaller than LSTM baseline · 2.5× faster inference · Full GPU delegate on-device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32362" y="1134963"/>
            <a:ext cx="3920282" cy="2315914"/>
          </a:xfrm>
          <a:prstGeom prst="roundRect">
            <a:avLst>
              <a:gd name="adj" fmla="val 231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864968" y="1213321"/>
            <a:ext cx="98181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49441" y="1213321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31533" y="1213321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213625" y="1213321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Pruned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995717" y="1213321"/>
            <a:ext cx="98181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64968" y="1559198"/>
            <a:ext cx="524619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49441" y="1559198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85.4%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31533" y="1559198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60.0%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213625" y="1559198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60.0%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995717" y="1559198"/>
            <a:ext cx="98181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60.0%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64968" y="2098997"/>
            <a:ext cx="524619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Size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649441" y="2098997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0.14 MB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31533" y="2098997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0.04 MB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213625" y="2098997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0.04 MB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95717" y="2098997"/>
            <a:ext cx="98181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0.02 MB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64968" y="2638797"/>
            <a:ext cx="98181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49441" y="2638797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31533" y="2638797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213625" y="2638797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995717" y="2638797"/>
            <a:ext cx="98181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64968" y="2984674"/>
            <a:ext cx="524619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 vs LSTM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649441" y="2984674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31533" y="2984674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−71%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213625" y="2984674"/>
            <a:ext cx="979438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−71%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995717" y="2984674"/>
            <a:ext cx="98181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−83%</a:t>
            </a:r>
            <a:endParaRPr lang="en-US" sz="1000" dirty="0"/>
          </a:p>
        </p:txBody>
      </p:sp>
      <p:sp>
        <p:nvSpPr>
          <p:cNvPr id="44" name="kicker-7-marker">
            <a:extLst>
              <a:ext uri="{FF2B5EF4-FFF2-40B4-BE49-F238E27FC236}">
                <a16:creationId xmlns:a16="http://schemas.microsoft.com/office/drawing/2014/main" id="{F2DA552E-4FAC-4D92-6270-323398F89F63}"/>
              </a:ext>
            </a:extLst>
          </p:cNvPr>
          <p:cNvSpPr>
            <a:spLocks noGrp="1"/>
          </p:cNvSpPr>
          <p:nvPr/>
        </p:nvSpPr>
        <p:spPr>
          <a:xfrm>
            <a:off x="488379" y="336550"/>
            <a:ext cx="266700" cy="57150"/>
          </a:xfrm>
          <a:prstGeom prst="rect">
            <a:avLst/>
          </a:prstGeom>
          <a:solidFill>
            <a:srgbClr val="123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kicker-7-label">
            <a:extLst>
              <a:ext uri="{FF2B5EF4-FFF2-40B4-BE49-F238E27FC236}">
                <a16:creationId xmlns:a16="http://schemas.microsoft.com/office/drawing/2014/main" id="{4B42820E-AC23-87BF-B171-8FBEEFD708E2}"/>
              </a:ext>
            </a:extLst>
          </p:cNvPr>
          <p:cNvSpPr>
            <a:spLocks noGrp="1"/>
          </p:cNvSpPr>
          <p:nvPr/>
        </p:nvSpPr>
        <p:spPr>
          <a:xfrm>
            <a:off x="869379" y="260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3B2A"/>
                </a:solidFill>
                <a:latin typeface="Aptos"/>
                <a:ea typeface="Aptos"/>
                <a:cs typeface="Aptos"/>
              </a:defRPr>
            </a:pPr>
            <a:r>
              <a:rPr lang="en-GB" sz="900" b="1" dirty="0">
                <a:solidFill>
                  <a:srgbClr val="123B2A"/>
                </a:solidFill>
                <a:latin typeface="Aptos"/>
                <a:ea typeface="Aptos"/>
                <a:cs typeface="Aptos"/>
              </a:rPr>
              <a:t>KEY RESULT</a:t>
            </a:r>
            <a:r>
              <a:rPr sz="900" b="1" dirty="0">
                <a:solidFill>
                  <a:srgbClr val="123B2A"/>
                </a:solidFill>
                <a:latin typeface="Aptos"/>
                <a:ea typeface="Aptos"/>
                <a:cs typeface="Aptos"/>
              </a:rPr>
              <a:t> | </a:t>
            </a:r>
            <a:r>
              <a:rPr lang="en-GB" sz="900" b="1" dirty="0">
                <a:solidFill>
                  <a:srgbClr val="123B2A"/>
                </a:solidFill>
                <a:latin typeface="Aptos"/>
                <a:ea typeface="Aptos"/>
                <a:cs typeface="Aptos"/>
              </a:rPr>
              <a:t>OPTIMIZATION</a:t>
            </a:r>
            <a:endParaRPr sz="900" b="1" dirty="0">
              <a:solidFill>
                <a:srgbClr val="123B2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6973171-F17F-6EEC-6096-643B36BE8234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4144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1024533"/>
            <a:ext cx="51799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live on </a:t>
            </a: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Samsung Galaxy S22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fully offline, no internet at any point.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925119" y="1289819"/>
            <a:ext cx="4722763" cy="631180"/>
          </a:xfrm>
          <a:prstGeom prst="roundRect">
            <a:avLst>
              <a:gd name="adj" fmla="val 75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043288" y="1407988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⚡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&lt;20ms Inference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043288" y="1639565"/>
            <a:ext cx="448642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gait scoring on-device with GPU delegate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925119" y="2011710"/>
            <a:ext cx="4722763" cy="631180"/>
          </a:xfrm>
          <a:prstGeom prst="roundRect">
            <a:avLst>
              <a:gd name="adj" fmla="val 75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043288" y="2129879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🦴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AR Skeleton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43288" y="2361456"/>
            <a:ext cx="448642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posture overlay with color-coded joint confidence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925119" y="2733601"/>
            <a:ext cx="4722763" cy="631180"/>
          </a:xfrm>
          <a:prstGeom prst="roundRect">
            <a:avLst>
              <a:gd name="adj" fmla="val 75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043288" y="2851770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🔄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2s Updates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43288" y="3083347"/>
            <a:ext cx="448642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Fatigue arc gauge and fall risk badge refresh continuously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925119" y="3455491"/>
            <a:ext cx="4722763" cy="631180"/>
          </a:xfrm>
          <a:prstGeom prst="roundRect">
            <a:avLst>
              <a:gd name="adj" fmla="val 754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043288" y="3573661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📊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Engine Screen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43288" y="3805238"/>
            <a:ext cx="448642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latency readout and INT8 optimization status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25119" y="4188693"/>
            <a:ext cx="4722763" cy="420663"/>
          </a:xfrm>
          <a:prstGeom prst="roundRect">
            <a:avLst>
              <a:gd name="adj" fmla="val 11324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526" y="4350246"/>
            <a:ext cx="141759" cy="11340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93691" y="4307756"/>
            <a:ext cx="469798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GitHub: </a:t>
            </a: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github.com/moondongkun/gaitguard-mobile</a:t>
            </a:r>
            <a:endParaRPr lang="en-US" sz="850" dirty="0"/>
          </a:p>
        </p:txBody>
      </p:sp>
      <p:sp>
        <p:nvSpPr>
          <p:cNvPr id="21" name="kicker-9-marker">
            <a:extLst>
              <a:ext uri="{FF2B5EF4-FFF2-40B4-BE49-F238E27FC236}">
                <a16:creationId xmlns:a16="http://schemas.microsoft.com/office/drawing/2014/main" id="{5404F13F-0D2E-DAF3-836C-998B2511180C}"/>
              </a:ext>
            </a:extLst>
          </p:cNvPr>
          <p:cNvSpPr>
            <a:spLocks noGrp="1"/>
          </p:cNvSpPr>
          <p:nvPr/>
        </p:nvSpPr>
        <p:spPr>
          <a:xfrm>
            <a:off x="3925119" y="424793"/>
            <a:ext cx="266700" cy="57150"/>
          </a:xfrm>
          <a:prstGeom prst="rect">
            <a:avLst/>
          </a:prstGeom>
          <a:solidFill>
            <a:srgbClr val="123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kicker-9-label">
            <a:extLst>
              <a:ext uri="{FF2B5EF4-FFF2-40B4-BE49-F238E27FC236}">
                <a16:creationId xmlns:a16="http://schemas.microsoft.com/office/drawing/2014/main" id="{4DE95EDA-8735-CF5A-2BF7-6F0F0BB1A411}"/>
              </a:ext>
            </a:extLst>
          </p:cNvPr>
          <p:cNvSpPr>
            <a:spLocks noGrp="1"/>
          </p:cNvSpPr>
          <p:nvPr/>
        </p:nvSpPr>
        <p:spPr>
          <a:xfrm>
            <a:off x="4306119" y="348593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3B2A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123B2A"/>
                </a:solidFill>
                <a:latin typeface="Aptos"/>
                <a:ea typeface="Aptos"/>
                <a:cs typeface="Aptos"/>
              </a:rPr>
              <a:t>08 | DEMO</a:t>
            </a:r>
          </a:p>
        </p:txBody>
      </p:sp>
      <p:pic>
        <p:nvPicPr>
          <p:cNvPr id="24" name="Screen_Recording_20260601_215823_GaitGuard">
            <a:hlinkClick r:id="" action="ppaction://media"/>
            <a:extLst>
              <a:ext uri="{FF2B5EF4-FFF2-40B4-BE49-F238E27FC236}">
                <a16:creationId xmlns:a16="http://schemas.microsoft.com/office/drawing/2014/main" id="{3A6A35DF-8947-3A00-6238-FAFE01F2FE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t="3537"/>
          <a:stretch>
            <a:fillRect/>
          </a:stretch>
        </p:blipFill>
        <p:spPr>
          <a:xfrm>
            <a:off x="614288" y="148629"/>
            <a:ext cx="2322775" cy="48559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760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900D60C-726A-D82D-B26F-455B4B41F431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F7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" name="Text 0"/>
          <p:cNvSpPr/>
          <p:nvPr/>
        </p:nvSpPr>
        <p:spPr>
          <a:xfrm>
            <a:off x="496119" y="568003"/>
            <a:ext cx="501275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Timeline &amp; Deliverables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149325"/>
            <a:ext cx="86089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project — </a:t>
            </a: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Dongkun Moon (2020-13236)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453432" y="1558007"/>
            <a:ext cx="14288" cy="2902223"/>
          </a:xfrm>
          <a:prstGeom prst="roundRect">
            <a:avLst>
              <a:gd name="adj" fmla="val 35422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233910" y="1686371"/>
            <a:ext cx="240953" cy="14288"/>
          </a:xfrm>
          <a:prstGeom prst="roundRect">
            <a:avLst>
              <a:gd name="adj" fmla="val 35422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415406" y="1648346"/>
            <a:ext cx="90339" cy="90339"/>
          </a:xfrm>
          <a:prstGeom prst="roundRect">
            <a:avLst>
              <a:gd name="adj" fmla="val 31630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96119" y="1599381"/>
            <a:ext cx="1482477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1–2 · May 6–11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6119" y="1890043"/>
            <a:ext cx="148247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design, IMU sensor pipeline, ring buffer, Room DB, MVVM setup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6288" y="2373139"/>
            <a:ext cx="240953" cy="14288"/>
          </a:xfrm>
          <a:prstGeom prst="roundRect">
            <a:avLst>
              <a:gd name="adj" fmla="val 35422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415406" y="2335113"/>
            <a:ext cx="90339" cy="90339"/>
          </a:xfrm>
          <a:prstGeom prst="roundRect">
            <a:avLst>
              <a:gd name="adj" fmla="val 31630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942555" y="2286149"/>
            <a:ext cx="1482477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3 · May 18–23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42555" y="2576810"/>
            <a:ext cx="1482477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UI (7 screens), ML Kit posture integration, TCN model training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33910" y="2978200"/>
            <a:ext cx="240953" cy="14288"/>
          </a:xfrm>
          <a:prstGeom prst="roundRect">
            <a:avLst>
              <a:gd name="adj" fmla="val 35422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415406" y="2940174"/>
            <a:ext cx="90339" cy="90339"/>
          </a:xfrm>
          <a:prstGeom prst="roundRect">
            <a:avLst>
              <a:gd name="adj" fmla="val 31630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96119" y="2891210"/>
            <a:ext cx="1482477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4 · May 23–31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6119" y="3181871"/>
            <a:ext cx="1482477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refinement, static photo analysis, posture AI insights, icon redesign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46288" y="3583260"/>
            <a:ext cx="240953" cy="14288"/>
          </a:xfrm>
          <a:prstGeom prst="roundRect">
            <a:avLst>
              <a:gd name="adj" fmla="val 35422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415406" y="3545235"/>
            <a:ext cx="90339" cy="90339"/>
          </a:xfrm>
          <a:prstGeom prst="roundRect">
            <a:avLst>
              <a:gd name="adj" fmla="val 31630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942555" y="3496270"/>
            <a:ext cx="1482477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Week 5 · June 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42555" y="3786932"/>
            <a:ext cx="1482477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optimization pipeline, benchmark table, GitHub submission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23730" y="1545208"/>
            <a:ext cx="19634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Deliverables</a:t>
            </a:r>
            <a:endParaRPr lang="en-US" sz="11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9443" y="1848669"/>
            <a:ext cx="3943201" cy="73848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901357" y="1983432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Android App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901357" y="2274094"/>
            <a:ext cx="361652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Kotlin + Jetpack Compose + Material 3</a:t>
            </a:r>
            <a:endParaRPr lang="en-US" sz="9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9443" y="2689547"/>
            <a:ext cx="3943201" cy="73848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01357" y="2824311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model/train.py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901357" y="3114973"/>
            <a:ext cx="361652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TCN training + pruning + INT8 quantization pipeline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9443" y="3530426"/>
            <a:ext cx="3943201" cy="73848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901357" y="3665190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Repository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4901357" y="3955852"/>
            <a:ext cx="361652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github.com/moondongkun/gaitguard-mobile</a:t>
            </a:r>
            <a:endParaRPr lang="en-US" sz="900" dirty="0"/>
          </a:p>
        </p:txBody>
      </p:sp>
      <p:sp>
        <p:nvSpPr>
          <p:cNvPr id="32" name="kicker-10-marker">
            <a:extLst>
              <a:ext uri="{FF2B5EF4-FFF2-40B4-BE49-F238E27FC236}">
                <a16:creationId xmlns:a16="http://schemas.microsoft.com/office/drawing/2014/main" id="{564F6ED7-4DA2-8FE8-A727-521E42AA8B44}"/>
              </a:ext>
            </a:extLst>
          </p:cNvPr>
          <p:cNvSpPr>
            <a:spLocks noGrp="1"/>
          </p:cNvSpPr>
          <p:nvPr/>
        </p:nvSpPr>
        <p:spPr>
          <a:xfrm>
            <a:off x="496119" y="463699"/>
            <a:ext cx="266700" cy="57150"/>
          </a:xfrm>
          <a:prstGeom prst="rect">
            <a:avLst/>
          </a:prstGeom>
          <a:solidFill>
            <a:srgbClr val="123B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kicker-10-label">
            <a:extLst>
              <a:ext uri="{FF2B5EF4-FFF2-40B4-BE49-F238E27FC236}">
                <a16:creationId xmlns:a16="http://schemas.microsoft.com/office/drawing/2014/main" id="{0C5B2DE0-44B9-BC67-5C17-AB278608B167}"/>
              </a:ext>
            </a:extLst>
          </p:cNvPr>
          <p:cNvSpPr>
            <a:spLocks noGrp="1"/>
          </p:cNvSpPr>
          <p:nvPr/>
        </p:nvSpPr>
        <p:spPr>
          <a:xfrm>
            <a:off x="877119" y="387499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23B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23B2A"/>
                </a:solidFill>
                <a:latin typeface="Aptos"/>
                <a:ea typeface="Aptos"/>
                <a:cs typeface="Aptos"/>
              </a:rPr>
              <a:t>09 | PROJECT</a:t>
            </a:r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0283E7F9-5D84-F89A-AA27-0639B2CEC2FD}"/>
              </a:ext>
            </a:extLst>
          </p:cNvPr>
          <p:cNvSpPr>
            <a:spLocks/>
          </p:cNvSpPr>
          <p:nvPr/>
        </p:nvSpPr>
        <p:spPr>
          <a:xfrm>
            <a:off x="13878074" y="1214884"/>
            <a:ext cx="3266926" cy="733425"/>
          </a:xfrm>
          <a:prstGeom prst="roundRect">
            <a:avLst>
              <a:gd name="adj" fmla="val 25974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1A3D2B">
                <a:alpha val="10000"/>
              </a:srgbClr>
            </a:solidFill>
            <a:prstDash val="solid"/>
          </a:ln>
          <a:effectLst>
            <a:outerShdw blurRad="190500" dist="19050" dir="5400000" algn="bl" rotWithShape="0">
              <a:srgbClr val="1A3D2B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67DC4206-0F82-31F0-CF80-2D3F5E49FEFE}"/>
              </a:ext>
            </a:extLst>
          </p:cNvPr>
          <p:cNvSpPr>
            <a:spLocks/>
          </p:cNvSpPr>
          <p:nvPr/>
        </p:nvSpPr>
        <p:spPr>
          <a:xfrm>
            <a:off x="14097149" y="1381571"/>
            <a:ext cx="400050" cy="400050"/>
          </a:xfrm>
          <a:prstGeom prst="roundRect">
            <a:avLst>
              <a:gd name="adj" fmla="val 33333"/>
            </a:avLst>
          </a:prstGeom>
          <a:solidFill>
            <a:srgbClr val="1A3D2B">
              <a:alpha val="7000"/>
            </a:srgbClr>
          </a:solidFill>
          <a:ln w="9525">
            <a:solidFill>
              <a:srgbClr val="1A3D2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89204A3D-4427-18E0-FA2F-1B27D4B37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1924" y="1486346"/>
            <a:ext cx="190500" cy="190500"/>
          </a:xfrm>
          <a:prstGeom prst="rect">
            <a:avLst/>
          </a:prstGeom>
        </p:spPr>
      </p:pic>
      <p:sp>
        <p:nvSpPr>
          <p:cNvPr id="40" name="Text 7">
            <a:extLst>
              <a:ext uri="{FF2B5EF4-FFF2-40B4-BE49-F238E27FC236}">
                <a16:creationId xmlns:a16="http://schemas.microsoft.com/office/drawing/2014/main" id="{BC7B12E5-EA6D-FE29-F2D3-9E5B1070E200}"/>
              </a:ext>
            </a:extLst>
          </p:cNvPr>
          <p:cNvSpPr>
            <a:spLocks/>
          </p:cNvSpPr>
          <p:nvPr/>
        </p:nvSpPr>
        <p:spPr>
          <a:xfrm>
            <a:off x="14630549" y="1376809"/>
            <a:ext cx="237157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project</a:t>
            </a:r>
            <a:endParaRPr lang="en-US" sz="1125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FDB3DC21-AFD1-E56C-27A7-3FBD6571263A}"/>
              </a:ext>
            </a:extLst>
          </p:cNvPr>
          <p:cNvSpPr>
            <a:spLocks/>
          </p:cNvSpPr>
          <p:nvPr/>
        </p:nvSpPr>
        <p:spPr>
          <a:xfrm>
            <a:off x="14630549" y="1538734"/>
            <a:ext cx="237157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Dongkun Moon </a:t>
            </a:r>
            <a:r>
              <a:rPr lang="en-US" sz="1125" b="1" dirty="0">
                <a:solidFill>
                  <a:srgbClr val="6B6B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2020-13236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910</Words>
  <Application>Microsoft Office PowerPoint</Application>
  <PresentationFormat>On-screen Show (16:9)</PresentationFormat>
  <Paragraphs>170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Inter</vt:lpstr>
      <vt:lpstr>Arial</vt:lpstr>
      <vt:lpstr>Inter Light</vt:lpstr>
      <vt:lpstr>Courier New</vt:lpstr>
      <vt:lpstr>Aptos</vt:lpstr>
      <vt:lpstr>Calibri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동건 문</cp:lastModifiedBy>
  <cp:revision>10</cp:revision>
  <dcterms:created xsi:type="dcterms:W3CDTF">2026-06-01T13:25:10Z</dcterms:created>
  <dcterms:modified xsi:type="dcterms:W3CDTF">2026-06-01T14:57:29Z</dcterms:modified>
</cp:coreProperties>
</file>